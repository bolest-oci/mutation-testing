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67" r:id="rId2"/>
    <p:sldId id="268" r:id="rId3"/>
    <p:sldId id="269" r:id="rId4"/>
    <p:sldId id="256" r:id="rId5"/>
    <p:sldId id="258" r:id="rId6"/>
    <p:sldId id="257" r:id="rId7"/>
    <p:sldId id="259" r:id="rId8"/>
    <p:sldId id="265" r:id="rId9"/>
    <p:sldId id="260" r:id="rId10"/>
    <p:sldId id="284" r:id="rId11"/>
    <p:sldId id="285" r:id="rId12"/>
    <p:sldId id="286" r:id="rId13"/>
    <p:sldId id="288" r:id="rId14"/>
    <p:sldId id="262" r:id="rId15"/>
    <p:sldId id="264" r:id="rId16"/>
    <p:sldId id="279" r:id="rId17"/>
    <p:sldId id="266" r:id="rId18"/>
    <p:sldId id="280" r:id="rId19"/>
    <p:sldId id="281" r:id="rId20"/>
    <p:sldId id="282" r:id="rId21"/>
    <p:sldId id="277" r:id="rId22"/>
    <p:sldId id="283" r:id="rId23"/>
    <p:sldId id="270" r:id="rId24"/>
    <p:sldId id="274" r:id="rId25"/>
    <p:sldId id="289" r:id="rId26"/>
    <p:sldId id="290" r:id="rId27"/>
    <p:sldId id="291" r:id="rId28"/>
    <p:sldId id="292" r:id="rId29"/>
    <p:sldId id="261" r:id="rId30"/>
    <p:sldId id="294" r:id="rId31"/>
    <p:sldId id="295" r:id="rId32"/>
    <p:sldId id="296" r:id="rId33"/>
    <p:sldId id="297" r:id="rId34"/>
    <p:sldId id="298" r:id="rId35"/>
    <p:sldId id="299" r:id="rId36"/>
    <p:sldId id="29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12:27:12.5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24486,'0'1978'0,"12624"-1978"0,-12624-1978 0,-12624 1978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16:38:48.86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24412,'0'10969'0,"3274"-10969"0,-3274-10969 0,-3274 10969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2:32:52.17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24543,'0'667'0,"5593"-667"0,-5593-667 0,-5593 667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0T18:50:29.6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9184 27771 16383 0 0,'3'0'0'0'0,"5"0"0"0"0,4 0 0 0 0,2 0 0 0 0,4 0 0 0 0,0 0 0 0 0,2 0 0 0 0,0 0 0 0 0,-1 0 0 0 0,1 0 0 0 0,-1 0 0 0 0,1 0 0 0 0,-1 0 0 0 0,0 0 0 0 0,0 0 0 0 0,-3 0 0 0 0,-2 0 0 0 0,1 0 0 0 0,1 0 0 0 0,-3 0 0 0 0,0 0 0 0 0,1 0 0 0 0,2 0 0 0 0,0 0 0 0 0,2 0 0 0 0,-3 0 0 0 0,0 0 0 0 0,0 0 0 0 0,1 0 0 0 0,0 0 0 0 0,2 0 0 0 0,-3 0 0 0 0,0 0 0 0 0,0 0 0 0 0,0 0 0 0 0,2 0 0 0 0,1 0 0 0 0,0 0 0 0 0,1 0 0 0 0,0 0 0 0 0,-3 0 0 0 0,-1 0 0 0 0,0 0 0 0 0,1 0 0 0 0,0 0 0 0 0,2 0 0 0 0,0 0 0 0 0,1 0 0 0 0,0 0 0 0 0,0 0 0 0 0,0 0 0 0 0,0 0 0 0 0,3 0 0 0 0,-2 0 0 0 0,-1 0 0 0 0,-1 0 0 0 0,0 0 0 0 0,1 0 0 0 0,-1 0 0 0 0,0 0 0 0 0,1 0 0 0 0,0 0 0 0 0,0 0 0 0 0,0 0 0 0 0,0 0 0 0 0,3 0 0 0 0,1 0 0 0 0,0 0 0 0 0,-1 0 0 0 0,0 0 0 0 0,-2 0 0 0 0,0 0 0 0 0,-1 0 0 0 0,13 0 0 0 0,4 0 0 0 0,-1 0 0 0 0,0 0 0 0 0,-2 0 0 0 0,-4 0 0 0 0,-4 0 0 0 0,-6 0 0 0 0,-3 0 0 0 0,-1 0 0 0 0,1 0 0 0 0,-1 0 0 0 0,2 0 0 0 0,4 0 0 0 0,-2 0 0 0 0,0 0 0 0 0,-1 0 0 0 0,-3 0 0 0 0,-1 0 0 0 0,0 0 0 0 0,1 0 0 0 0,2 0 0 0 0,0 0 0 0 0,1 0 0 0 0,4 0 0 0 0,2 0 0 0 0,-1 0 0 0 0,-1 0 0 0 0,0 0 0 0 0,-2 0 0 0 0,3 0 0 0 0,-2 0 0 0 0,-2 0 0 0 0,-1 0 0 0 0,-1 0 0 0 0,1 0 0 0 0,0 0 0 0 0,1 0 0 0 0,-1 0 0 0 0,1 0 0 0 0,-3 0 0 0 0,2 0 0 0 0,1 0 0 0 0,1 0 0 0 0,-4 0 0 0 0,3 0 0 0 0,1 0 0 0 0,0 0 0 0 0,1 0 0 0 0,-1 0 0 0 0,3 0 0 0 0,0 0 0 0 0,1 0 0 0 0,-2 0 0 0 0,-1 0 0 0 0,0 0 0 0 0,1 0 0 0 0,2 0 0 0 0,-1 0 0 0 0,-1 0 0 0 0,-1 0 0 0 0,-1 0 0 0 0,0 0 0 0 0,-1 0 0 0 0,3 0 0 0 0,1 0 0 0 0,-3 0 0 0 0,-2 0 0 0 0,-1 0 0 0 0,3 0 0 0 0,2 0 0 0 0,-1 0 0 0 0,1 0 0 0 0,-1 0 0 0 0,-1 0 0 0 0,0 0 0 0 0,-1 0 0 0 0,0 0 0 0 0,0 0 0 0 0,0 0 0 0 0,0 0 0 0 0,0 0 0 0 0,-1 0 0 0 0,5 0 0 0 0,0 0 0 0 0,0 0 0 0 0,-1 0 0 0 0,-1 0 0 0 0,0 0 0 0 0,2 0 0 0 0,0 0 0 0 0,0 0 0 0 0,-1 0 0 0 0,0 0 0 0 0,-2 0 0 0 0,-1 0 0 0 0,4 0 0 0 0,0 0 0 0 0,3 0 0 0 0,0 0 0 0 0,0 0 0 0 0,-3 0 0 0 0,-1 0 0 0 0,-1 0 0 0 0,-2 0 0 0 0,1 0 0 0 0,-2 0 0 0 0,1 0 0 0 0,0 0 0 0 0,-1 0 0 0 0,4 0 0 0 0,1 0 0 0 0,0 0 0 0 0,0 0 0 0 0,-2 0 0 0 0,-1 0 0 0 0,0 0 0 0 0,-1 0 0 0 0,0 0 0 0 0,0 0 0 0 0,0 0 0 0 0,0 0 0 0 0,3 0 0 0 0,4 0 0 0 0,1 0 0 0 0,0 0 0 0 0,-3 0 0 0 0,-1 0 0 0 0,-2 0 0 0 0,-1 0 0 0 0,-1 0 0 0 0,0 0 0 0 0,3 0 0 0 0,1 0 0 0 0,3 0 0 0 0,0 0 0 0 0,-1 0 0 0 0,-1 0 0 0 0,-2 0 0 0 0,-1 0 0 0 0,2 0 0 0 0,0 0 0 0 0,3 0 0 0 0,1 0 0 0 0,1 0 0 0 0,0 0 0 0 0,-2 0 0 0 0,-3 0 0 0 0,-1 0 0 0 0,-1 0 0 0 0,-1 0 0 0 0,-2 0 0 0 0,1 0 0 0 0,0 0 0 0 0,-1 0 0 0 0,1 0 0 0 0,3 0 0 0 0,4 0 0 0 0,1 0 0 0 0,3 0 0 0 0,-1 0 0 0 0,-2 0 0 0 0,-3 0 0 0 0,-1 0 0 0 0,-3 0 0 0 0,3 0 0 0 0,0 0 0 0 0,3 0 0 0 0,0 0 0 0 0,3 0 0 0 0,-2 0 0 0 0,2 0 0 0 0,-1 0 0 0 0,-1 0 0 0 0,-4 0 0 0 0,-1 0 0 0 0,-1 0 0 0 0,-2 0 0 0 0,0 0 0 0 0,0 0 0 0 0,-1 0 0 0 0,1 0 0 0 0,-1 0 0 0 0,1 0 0 0 0,0 0 0 0 0,3 0 0 0 0,1 0 0 0 0,3 0 0 0 0,1 0 0 0 0,-2 0 0 0 0,-1 0 0 0 0,-2 0 0 0 0,-1 0 0 0 0,-1 0 0 0 0,-1 0 0 0 0,0 0 0 0 0,-1 0 0 0 0,4 0 0 0 0,1 0 0 0 0,0 0 0 0 0,-1 0 0 0 0,-1 0 0 0 0,0 0 0 0 0,-2 0 0 0 0,1 0 0 0 0,-1 0 0 0 0,-1 0 0 0 0,1 0 0 0 0,0 0 0 0 0,0 0 0 0 0,0 0 0 0 0,3 0 0 0 0,1 0 0 0 0,0 0 0 0 0,-1 0 0 0 0,3 0 0 0 0,-1 0 0 0 0,0 0 0 0 0,-1 0 0 0 0,-2 0 0 0 0,-1 0 0 0 0,0 0 0 0 0,-1 0 0 0 0,0 0 0 0 0,3 0 0 0 0,1 0 0 0 0,0 0 0 0 0,-1 0 0 0 0,-1 0 0 0 0,-1 0 0 0 0,0 0 0 0 0,-1 0 0 0 0,3 0 0 0 0,2 0 0 0 0,2 0 0 0 0,0 0 0 0 0,6 0 0 0 0,0 0 0 0 0,-2 0 0 0 0,-3 0 0 0 0,1 0 0 0 0,-2 0 0 0 0,-1 0 0 0 0,-3 0 0 0 0,-1 0 0 0 0,2 0 0 0 0,1 0 0 0 0,-1 0 0 0 0,-1 0 0 0 0,-1 0 0 0 0,-1 0 0 0 0,-1 0 0 0 0,0 0 0 0 0,0 0 0 0 0,0 0 0 0 0,0 0 0 0 0,3 0 0 0 0,1 0 0 0 0,3 0 0 0 0,0 0 0 0 0,0 0 0 0 0,-3 0 0 0 0,0 0 0 0 0,0 0 0 0 0,2 0 0 0 0,-2 0 0 0 0,-1 0 0 0 0,-1 0 0 0 0,2 0 0 0 0,1 0 0 0 0,-1 0 0 0 0,-1 0 0 0 0,-1 0 0 0 0,-1 0 0 0 0,3 0 0 0 0,1 0 0 0 0,-1 0 0 0 0,-1 0 0 0 0,-1 0 0 0 0,2 0 0 0 0,1 0 0 0 0,-1 0 0 0 0,3 0 0 0 0,-1 0 0 0 0,-1 0 0 0 0,-1 0 0 0 0,-1 0 0 0 0,1 0 0 0 0,1 0 0 0 0,-1 0 0 0 0,-1 0 0 0 0,-1 0 0 0 0,-1 0 0 0 0,3 0 0 0 0,1 0 0 0 0,-2 0 0 0 0,1 0 0 0 0,-2 0 0 0 0,-1 0 0 0 0,3 0 0 0 0,0 0 0 0 0,0 0 0 0 0,-1 0 0 0 0,-1 0 0 0 0,0 0 0 0 0,-2 0 0 0 0,0 0 0 0 0,0 0 0 0 0,0 0 0 0 0,0 0 0 0 0,0 0 0 0 0,-1 0 0 0 0,1 0 0 0 0,0 0 0 0 0,0 0 0 0 0,0 0 0 0 0,0 0 0 0 0,0 0 0 0 0,0 0 0 0 0,0 0 0 0 0,0 0 0 0 0,0 0 0 0 0,0 0 0 0 0,0 0 0 0 0,0 0 0 0 0,0 0 0 0 0,0 0 0 0 0,-1 0 0 0 0,1 0 0 0 0,0 0 0 0 0,0 0 0 0 0,0 0 0 0 0,0 0 0 0 0,0 0 0 0 0,0 0 0 0 0,0 0 0 0 0,0 0 0 0 0,0 0 0 0 0,-3 0 0 0 0,-2 0 0 0 0,1 0 0 0 0,1 0 0 0 0,1 0 0 0 0,0 0 0 0 0,1 0 0 0 0,1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0,-1 0 0 0 0,1 0 0 0 0,0 0 0 0 0,0 0 0 0 0,-6 0 0 0 0,-9 0 0 0 0,-8 0 0 0 0,-7 0 0 0 0,-5 0 0 0 0,-2 0 0 0 0,-2 0 0 0 0,-1 0 0 0 0,1 0 0 0 0,-1 0 0 0 0,1 0 0 0 0,1 0 0 0 0,-1 0 0 0 0,1 0 0 0 0,0 0 0 0 0,0 0 0 0 0,0 0 0 0 0,1 0 0 0 0,-1 0 0 0 0,0 0 0 0 0,0 0 0 0 0,0 0 0 0 0,0 0 0 0 0,0 0 0 0 0,0 0 0 0 0,0 0 0 0 0,0 0 0 0 0,0 0 0 0 0,0 0 0 0 0,0 0 0 0 0,0 0 0 0 0,0 0 0 0 0,0 0 0 0 0,0 0 0 0 0,1 0 0 0 0,-1 0 0 0 0,-4 0 0 0 0,0 0 0 0 0,-3 0 0 0 0,-1 0 0 0 0,2 0 0 0 0,1 0 0 0 0,2 0 0 0 0,1 0 0 0 0,2 0 0 0 0,0 0 0 0 0,0 0 0 0 0,0 0 0 0 0,1 0 0 0 0,-1 0 0 0 0,0 0 0 0 0,0 0 0 0 0,0 0 0 0 0,1 0 0 0 0,-1 0 0 0 0,0 0 0 0 0,0 0 0 0 0,0 0 0 0 0,0 0 0 0 0,-3 0 0 0 0,-2 0 0 0 0,1 0 0 0 0,1 0 0 0 0,1 0 0 0 0,-3 0 0 0 0,0 0 0 0 0,1 0 0 0 0,0 0 0 0 0,-1 0 0 0 0,-1 0 0 0 0,-1 0 0 0 0,-1 0 0 0 0,2 0 0 0 0,1 0 0 0 0,2 0 0 0 0,-1 0 0 0 0,-1 0 0 0 0,1 0 0 0 0,-3 0 0 0 0,1 0 0 0 0,1 0 0 0 0,1 0 0 0 0,-1 0 0 0 0,-1 0 0 0 0,1 0 0 0 0,2 0 0 0 0,1 0 0 0 0,1 0 0 0 0,-3 0 0 0 0,0 0 0 0 0,0 0 0 0 0,1 0 0 0 0,-2 0 0 0 0,-1 0 0 0 0,1 0 0 0 0,-1 0 0 0 0,-1 0 0 0 0,2 0 0 0 0,1 0 0 0 0,-2 0 0 0 0,1 0 0 0 0,0 0 0 0 0,-1 0 0 0 0,-4 0 0 0 0,1 0 0 0 0,1 0 0 0 0,2 0 0 0 0,-1 0 0 0 0,1 0 0 0 0,-2 0 0 0 0,0 0 0 0 0,2 0 0 0 0,-1 0 0 0 0,0 0 0 0 0,1 0 0 0 0,-1 0 0 0 0,1 0 0 0 0,-3 0 0 0 0,1 0 0 0 0,-1 0 0 0 0,-3 0 0 0 0,1 0 0 0 0,-1 0 0 0 0,1 0 0 0 0,0 0 0 0 0,2 0 0 0 0,-2 0 0 0 0,2 0 0 0 0,-1 0 0 0 0,-2 0 0 0 0,1 0 0 0 0,0 0 0 0 0,0 0 0 0 0,0 0 0 0 0,2 0 0 0 0,-1 0 0 0 0,-2 0 0 0 0,1 0 0 0 0,2 0 0 0 0,-6 0 0 0 0,-5 0 0 0 0,2 0 0 0 0,3 0 0 0 0,2 0 0 0 0,-1 0 0 0 0,2 0 0 0 0,1 0 0 0 0,1 0 0 0 0,-4 0 0 0 0,1 0 0 0 0,-7 0 0 0 0,-1 0 0 0 0,1 0 0 0 0,0 0 0 0 0,3 0 0 0 0,2 0 0 0 0,0 0 0 0 0,3 0 0 0 0,0 0 0 0 0,1 0 0 0 0,1 0 0 0 0,-5 0 0 0 0,-4 0 0 0 0,-1 0 0 0 0,0 0 0 0 0,-1 0 0 0 0,4 0 0 0 0,4 0 0 0 0,2 0 0 0 0,-1 0 0 0 0,-1 0 0 0 0,1 0 0 0 0,0 0 0 0 0,-2 0 0 0 0,-1 0 0 0 0,-2 0 0 0 0,3 0 0 0 0,3 0 0 0 0,-3 0 0 0 0,1 0 0 0 0,0 0 0 0 0,1 0 0 0 0,1 0 0 0 0,-2 0 0 0 0,-2 0 0 0 0,-1 0 0 0 0,1 0 0 0 0,1 0 0 0 0,-1 0 0 0 0,3 0 0 0 0,-1 0 0 0 0,3 0 0 0 0,-4 0 0 0 0,0 0 0 0 0,0 0 0 0 0,2 0 0 0 0,0 0 0 0 0,-1 0 0 0 0,-2 0 0 0 0,2 0 0 0 0,0 0 0 0 0,-2 0 0 0 0,3 0 0 0 0,3 0 0 0 0,-1 0 0 0 0,-1 0 0 0 0,1 0 0 0 0,3 0 0 0 0,-2 0 0 0 0,-5 0 0 0 0,0 0 0 0 0,2 0 0 0 0,3 0 0 0 0,-3 0 0 0 0,0 0 0 0 0,3 0 0 0 0,2 0 0 0 0,-1 0 0 0 0,-1 0 0 0 0,-1 0 0 0 0,3 0 0 0 0,-2 0 0 0 0,-1 0 0 0 0,0 0 0 0 0,2 0 0 0 0,-1 0 0 0 0,1 0 0 0 0,2 0 0 0 0,-1 0 0 0 0,1 0 0 0 0,0 0 0 0 0,3 0 0 0 0,-3 0 0 0 0,-2 0 0 0 0,-1 0 0 0 0,2 0 0 0 0,-2 0 0 0 0,2 0 0 0 0,1 0 0 0 0,-2 0 0 0 0,1 0 0 0 0,2 0 0 0 0,2 0 0 0 0,-3 0 0 0 0,1 0 0 0 0,0 0 0 0 0,-1 0 0 0 0,0 0 0 0 0,0 0 0 0 0,3 0 0 0 0,-3 0 0 0 0,0 0 0 0 0,2 0 0 0 0,-3 0 0 0 0,1 0 0 0 0,1 0 0 0 0,1 0 0 0 0,-2 0 0 0 0,1 0 0 0 0,0 0 0 0 0,-1 0 0 0 0,-1 0 0 0 0,2 0 0 0 0,1 0 0 0 0,2 0 0 0 0,1 0 0 0 0,-3 0 0 0 0,0 0 0 0 0,0 0 0 0 0,1 0 0 0 0,-2 0 0 0 0,-1 0 0 0 0,-2 0 0 0 0,1 0 0 0 0,0 0 0 0 0,3 0 0 0 0,1 0 0 0 0,1 0 0 0 0,-2 0 0 0 0,0 0 0 0 0,-3 0 0 0 0,0 0 0 0 0,1 0 0 0 0,1 0 0 0 0,3 0 0 0 0,0 0 0 0 0,1 0 0 0 0,1 0 0 0 0,0 0 0 0 0,1 0 0 0 0,-1 0 0 0 0,-3 0 0 0 0,-1 0 0 0 0,0 0 0 0 0,1 0 0 0 0,1 0 0 0 0,0 0 0 0 0,2 0 0 0 0,-1 0 0 0 0,1 0 0 0 0,1 0 0 0 0,-1 0 0 0 0,0 0 0 0 0,0 0 0 0 0,0 0 0 0 0,-3 0 0 0 0,-1 0 0 0 0,0 0 0 0 0,1 0 0 0 0,0 0 0 0 0,2 0 0 0 0,0 0 0 0 0,1 0 0 0 0,0 0 0 0 0,0 0 0 0 0,-3 0 0 0 0,-1 0 0 0 0,0 0 0 0 0,1 0 0 0 0,1 0 0 0 0,1 0 0 0 0,0 0 0 0 0,1 0 0 0 0,0 0 0 0 0,0 0 0 0 0,0 0 0 0 0,0 0 0 0 0,0 0 0 0 0,1 0 0 0 0,-1 0 0 0 0,0 0 0 0 0,-3 0 0 0 0,-2 0 0 0 0,1 0 0 0 0,1 0 0 0 0,1 0 0 0 0,0 0 0 0 0,2 0 0 0 0,-1 0 0 0 0,1 0 0 0 0,1 0 0 0 0,-1 0 0 0 0,0 0 0 0 0,0 0 0 0 0,0 0 0 0 0,0 0 0 0 0,1 0 0 0 0,-1 0 0 0 0,0 0 0 0 0,3 0 0 0 0,1 0 0 0 0,0 0 0 0 0,0 0 0 0 0,-2 0 0 0 0,0 0 0 0 0,2 0 0 0 0,0 0 0 0 0,0 0 0 0 0,0 0 0 0 0,-2 0 0 0 0,-1 0 0 0 0,0 0 0 0 0,-1 0 0 0 0,0 0 0 0 0,0 0 0 0 0,0 0 0 0 0,0 0 0 0 0,-1 0 0 0 0,1 0 0 0 0,0 0 0 0 0,0 0 0 0 0,0 0 0 0 0,1 0 0 0 0,-1 0 0 0 0,0 0 0 0 0,0 0 0 0 0,0 0 0 0 0,0 0 0 0 0,0 0 0 0 0,0 0 0 0 0,0 0 0 0 0,0 0 0 0 0,0 0 0 0 0,0 0 0 0 0,0 0 0 0 0,3 0 0 0 0,2 0 0 0 0,-1 0 0 0 0,2 0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0T18:50:29.6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13891 15335 16383 0 0,'3'0'0'0'0,"4"0"0"0"0,2 0 0 0 0,1 0 0 0 0,0 0 0 0 0,1 0 0 0 0,2 0 0 0 0,2 0 0 0 0,2 0 0 0 0,-2 0 0 0 0,-1 0 0 0 0,1 0 0 0 0,1 0 0 0 0,1 0 0 0 0,1 0 0 0 0,0 0 0 0 0,-2 0 0 0 0,-1 0 0 0 0,0 0 0 0 0,-2 0 0 0 0,-1 0 0 0 0,2 0 0 0 0,1 0 0 0 0,1 0 0 0 0,1 0 0 0 0,2 0 0 0 0,0 0 0 0 0,3 0 0 0 0,5 0 0 0 0,0 0 0 0 0,3 0 0 0 0,2 0 0 0 0,0 0 0 0 0,-7 0 0 0 0,0 0 0 0 0,-2 0 0 0 0,-1 0 0 0 0,5 0 0 0 0,1 0 0 0 0,3 0 0 0 0,-2 0 0 0 0,-1 0 0 0 0,-3 0 0 0 0,1 0 0 0 0,-1 0 0 0 0,-1 0 0 0 0,1 0 0 0 0,0 0 0 0 0,2 0 0 0 0,3 0 0 0 0,0 0 0 0 0,-2 0 0 0 0,-3 0 0 0 0,4 0 0 0 0,4 0 0 0 0,-1 0 0 0 0,-2 0 0 0 0,3 0 0 0 0,-1 0 0 0 0,-2 0 0 0 0,-1 0 0 0 0,3 0 0 0 0,1 0 0 0 0,-2 0 0 0 0,1 0 0 0 0,1 0 0 0 0,5 0 0 0 0,-1 0 0 0 0,-1 0 0 0 0,1 0 0 0 0,0 0 0 0 0,0 0 0 0 0,-2 0 0 0 0,-2 0 0 0 0,1 0 0 0 0,0 0 0 0 0,2 0 0 0 0,4 0 0 0 0,-2 0 0 0 0,-1 0 0 0 0,1 0 0 0 0,2 0 0 0 0,1 0 0 0 0,-2 0 0 0 0,-3 0 0 0 0,0 0 0 0 0,0 0 0 0 0,4 0 0 0 0,1 0 0 0 0,0 0 0 0 0,0 0 0 0 0,-1 0 0 0 0,-1 0 0 0 0,0 0 0 0 0,3 0 0 0 0,0 0 0 0 0,0 0 0 0 0,-1 0 0 0 0,-1 0 0 0 0,-1 0 0 0 0,3 0 0 0 0,4 0 0 0 0,0 0 0 0 0,-1 0 0 0 0,-2 0 0 0 0,-1 0 0 0 0,-2 0 0 0 0,2 0 0 0 0,1 0 0 0 0,-2 0 0 0 0,3 0 0 0 0,1 0 0 0 0,-2 0 0 0 0,-1 0 0 0 0,-2 0 0 0 0,6 0 0 0 0,1 0 0 0 0,-1 0 0 0 0,-2 0 0 0 0,-1 0 0 0 0,-3 0 0 0 0,-1 0 0 0 0,3 0 0 0 0,0 0 0 0 0,0 0 0 0 0,-1 0 0 0 0,-2 0 0 0 0,4 0 0 0 0,0 0 0 0 0,2 0 0 0 0,0 0 0 0 0,3 0 0 0 0,-1 0 0 0 0,-3 0 0 0 0,-1 0 0 0 0,-2 0 0 0 0,-1 0 0 0 0,-2 0 0 0 0,3 0 0 0 0,1 0 0 0 0,0 0 0 0 0,-1 0 0 0 0,-1 0 0 0 0,-1 0 0 0 0,-1 0 0 0 0,4 0 0 0 0,0 0 0 0 0,0 0 0 0 0,-1 0 0 0 0,-1 0 0 0 0,-1 0 0 0 0,0 0 0 0 0,2 0 0 0 0,1 0 0 0 0,0 0 0 0 0,-1 0 0 0 0,-1 0 0 0 0,-1 0 0 0 0,0 0 0 0 0,2 0 0 0 0,-2 0 0 0 0,-1 0 0 0 0,-1 0 0 0 0,3 0 0 0 0,1 0 0 0 0,0 0 0 0 0,0 0 0 0 0,-1 0 0 0 0,-1 0 0 0 0,0 0 0 0 0,-1 0 0 0 0,0 0 0 0 0,0 0 0 0 0,3 0 0 0 0,1 0 0 0 0,-4 0 0 0 0,-1 0 0 0 0,-1 0 0 0 0,0 0 0 0 0,4 0 0 0 0,-2 0 0 0 0,-1 0 0 0 0,-1 0 0 0 0,1 0 0 0 0,0 0 0 0 0,0 0 0 0 0,1 0 0 0 0,0 0 0 0 0,-1 0 0 0 0,1 0 0 0 0,0 0 0 0 0,3 0 0 0 0,-1 0 0 0 0,-3 0 0 0 0,0 0 0 0 0,0 0 0 0 0,4 0 0 0 0,0 0 0 0 0,-3 0 0 0 0,2 0 0 0 0,1 0 0 0 0,-4 0 0 0 0,1 0 0 0 0,1 0 0 0 0,-2 0 0 0 0,-2 0 0 0 0,-1 0 0 0 0,2 0 0 0 0,0 0 0 0 0,4 0 0 0 0,-2 0 0 0 0,2 0 0 0 0,2 0 0 0 0,-1 0 0 0 0,-1 0 0 0 0,0 0 0 0 0,-1 0 0 0 0,-4 0 0 0 0,-1 0 0 0 0,0 0 0 0 0,4 0 0 0 0,1 0 0 0 0,2 0 0 0 0,-1 0 0 0 0,-3 0 0 0 0,1 0 0 0 0,-2 0 0 0 0,2 0 0 0 0,1 0 0 0 0,-3 0 0 0 0,0 0 0 0 0,-1 0 0 0 0,3 0 0 0 0,3 0 0 0 0,-4 0 0 0 0,3 0 0 0 0,0 0 0 0 0,-3 0 0 0 0,-2 0 0 0 0,4 0 0 0 0,-3 0 0 0 0,0 0 0 0 0,0 0 0 0 0,0 0 0 0 0,1 0 0 0 0,0 0 0 0 0,0 0 0 0 0,1 0 0 0 0,0 0 0 0 0,0 0 0 0 0,0 0 0 0 0,0 0 0 0 0,0 0 0 0 0,0 0 0 0 0,-3 0 0 0 0,-2 0 0 0 0,4 0 0 0 0,2 0 0 0 0,-2 0 0 0 0,-2 0 0 0 0,4 0 0 0 0,-3 0 0 0 0,4 0 0 0 0,0 0 0 0 0,-3 0 0 0 0,-1 0 0 0 0,0 0 0 0 0,-4 0 0 0 0,3 0 0 0 0,2 0 0 0 0,-2 0 0 0 0,2 0 0 0 0,-1 0 0 0 0,-1 0 0 0 0,4 0 0 0 0,-2 0 0 0 0,-1 0 0 0 0,0 0 0 0 0,-3 0 0 0 0,3 0 0 0 0,2 0 0 0 0,-3 0 0 0 0,-1 0 0 0 0,1 0 0 0 0,0 0 0 0 0,1 0 0 0 0,1 0 0 0 0,0 0 0 0 0,-2 0 0 0 0,-1 0 0 0 0,3 0 0 0 0,-1 0 0 0 0,-1 0 0 0 0,-2 0 0 0 0,-1 0 0 0 0,0 0 0 0 0,2 0 0 0 0,2 0 0 0 0,0 0 0 0 0,-2 0 0 0 0,2 0 0 0 0,-1 0 0 0 0,0 0 0 0 0,-3 0 0 0 0,-1 0 0 0 0,2 0 0 0 0,0 0 0 0 0,-1 0 0 0 0,0 0 0 0 0,1 0 0 0 0,2 0 0 0 0,1 0 0 0 0,-3 0 0 0 0,0 0 0 0 0,1 0 0 0 0,1 0 0 0 0,-3 0 0 0 0,1 0 0 0 0,-3 0 0 0 0,0 0 0 0 0,2 0 0 0 0,1 0 0 0 0,-1 0 0 0 0,0 0 0 0 0,1 0 0 0 0,-2 0 0 0 0,1 0 0 0 0,-3 0 0 0 0,1 0 0 0 0,2 0 0 0 0,-2 0 0 0 0,0 0 0 0 0,3 0 0 0 0,1 0 0 0 0,-2 0 0 0 0,1 0 0 0 0,-3 0 0 0 0,0 0 0 0 0,2 0 0 0 0,-2 0 0 0 0,-2 0 0 0 0,0 0 0 0 0,2 0 0 0 0,-1 0 0 0 0,1 0 0 0 0,-2 0 0 0 0,2 0 0 0 0,1 0 0 0 0,0 0 0 0 0,0 0 0 0 0,-2 0 0 0 0,1 0 0 0 0,-2 0 0 0 0,-2 0 0 0 0,1 0 0 0 0,2 0 0 0 0,0 0 0 0 0,1 0 0 0 0,-2 0 0 0 0,2 0 0 0 0,-2 0 0 0 0,-2 0 0 0 0,1 0 0 0 0,-1 0 0 0 0,-2 0 0 0 0,2 0 0 0 0,0 0 0 0 0,-2 0 0 0 0,2 0 0 0 0,-1 0 0 0 0,2 0 0 0 0,0 0 0 0 0,-1 0 0 0 0,1 0 0 0 0,-1 0 0 0 0,1 0 0 0 0,0 0 0 0 0,-1 0 0 0 0,0 0 0 0 0,0 0 0 0 0,2 0 0 0 0,-1 0 0 0 0,-1 0 0 0 0,-3 0 0 0 0,-1 0 0 0 0,-2 0 0 0 0,3 0 0 0 0,0 0 0 0 0,3 0 0 0 0,0 0 0 0 0,2 0 0 0 0,0 0 0 0 0,1 0 0 0 0,-1 0 0 0 0,-2 0 0 0 0,-2 0 0 0 0,-2 0 0 0 0,-1 0 0 0 0,-2 0 0 0 0,0 0 0 0 0,3 0 0 0 0,1 0 0 0 0,2 0 0 0 0,2 0 0 0 0,-2 0 0 0 0,-2 0 0 0 0,-1 0 0 0 0,-1 0 0 0 0,-1 0 0 0 0,-1 0 0 0 0,3 0 0 0 0,1 0 0 0 0,0 0 0 0 0,-1 0 0 0 0,-1 0 0 0 0,2 0 0 0 0,1 0 0 0 0,3 0 0 0 0,-1 0 0 0 0,-1 0 0 0 0,-1 0 0 0 0,-2 0 0 0 0,2 0 0 0 0,0 0 0 0 0,-1 0 0 0 0,-1 0 0 0 0,-1 0 0 0 0,-1 0 0 0 0,3 0 0 0 0,0 0 0 0 0,0 0 0 0 0,-1 0 0 0 0,-1 0 0 0 0,2 0 0 0 0,1 0 0 0 0,0 0 0 0 0,-2 0 0 0 0,-1 0 0 0 0,2 0 0 0 0,1 0 0 0 0,-1 0 0 0 0,0 0 0 0 0,-2 0 0 0 0,-1 0 0 0 0,-1 0 0 0 0,1 0 0 0 0,-2 0 0 0 0,1 0 0 0 0,0 0 0 0 0,0 0 0 0 0,-1 0 0 0 0,1 0 0 0 0,0 0 0 0 0,0 0 0 0 0,0 0 0 0 0,0 0 0 0 0,0 0 0 0 0,0 0 0 0 0,0 0 0 0 0,0 0 0 0 0,0 0 0 0 0,0 0 0 0 0,0 0 0 0 0,0 0 0 0 0,0 0 0 0 0,0 0 0 0 0,0 0 0 0 0,0 0 0 0 0,0 0 0 0 0,0 0 0 0 0,-1 0 0 0 0,1 0 0 0 0,0 0 0 0 0,0 0 0 0 0,0 0 0 0 0,0 0 0 0 0,-3 0 0 0 0,-1 0 0 0 0,0 0 0 0 0,0 0 0 0 0,2 0 0 0 0,0 0 0 0 0,1 0 0 0 0,1 0 0 0 0,0 0 0 0 0,0 0 0 0 0,0 0 0 0 0,0 0 0 0 0,1 0 0 0 0,-1 0 0 0 0,0 0 0 0 0,0 0 0 0 0,0 0 0 0 0,0 0 0 0 0,-1 0 0 0 0,1 0 0 0 0,-3 0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0T18:50:29.6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15187 17928 16383 0 0,'7542'0'0'0'0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A752D-8CF2-4555-96F7-B983070E084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E2AB0-63BD-4FA2-8FEA-94CD8D27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17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 err="1"/>
              <a:t>Farbicky</a:t>
            </a:r>
            <a:r>
              <a:rPr lang="sk-SK" dirty="0"/>
              <a:t> pre </a:t>
            </a:r>
            <a:r>
              <a:rPr lang="sk-SK" dirty="0" err="1"/>
              <a:t>irelevant</a:t>
            </a:r>
            <a:r>
              <a:rPr lang="sk-SK" dirty="0"/>
              <a:t> veci a dobre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1E2AB0-63BD-4FA2-8FEA-94CD8D27CE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03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1E2AB0-63BD-4FA2-8FEA-94CD8D27CE6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153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1E2AB0-63BD-4FA2-8FEA-94CD8D27CE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4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1E2AB0-63BD-4FA2-8FEA-94CD8D27CE6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88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1E2AB0-63BD-4FA2-8FEA-94CD8D27CE6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5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02B3D-9E72-49E5-9D92-1FB450C07A48}" type="slidenum">
              <a:rPr lang="sk-SK" smtClean="0"/>
              <a:t>10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32819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02B3D-9E72-49E5-9D92-1FB450C07A48}" type="slidenum">
              <a:rPr lang="sk-SK" smtClean="0"/>
              <a:t>12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25048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02B3D-9E72-49E5-9D92-1FB450C07A48}" type="slidenum">
              <a:rPr lang="sk-SK" smtClean="0"/>
              <a:t>13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5293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02B3D-9E72-49E5-9D92-1FB450C07A48}" type="slidenum">
              <a:rPr lang="sk-SK" smtClean="0"/>
              <a:t>14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18002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02B3D-9E72-49E5-9D92-1FB450C07A48}" type="slidenum">
              <a:rPr lang="sk-SK" smtClean="0"/>
              <a:t>15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97428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3AED0-2AA4-4DC9-8872-3ADC93FF9036}" type="slidenum">
              <a:rPr lang="sk-SK" smtClean="0"/>
              <a:t>17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632742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3AED0-2AA4-4DC9-8872-3ADC93FF9036}" type="slidenum">
              <a:rPr lang="sk-SK" smtClean="0"/>
              <a:t>19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653172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63D0F-0B1A-24BB-4CEC-860CE546F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02A04D20-86CD-9081-F4C0-DADC48EB2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CFFA8E39-CC22-49D6-EF83-DAC6DD625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58EC96C-D4AC-4D64-22D9-B2EE7CEECC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3AED0-2AA4-4DC9-8872-3ADC93FF9036}" type="slidenum">
              <a:rPr lang="sk-SK" smtClean="0"/>
              <a:t>20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941302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3AED0-2AA4-4DC9-8872-3ADC93FF9036}" type="slidenum">
              <a:rPr lang="sk-SK" smtClean="0"/>
              <a:t>21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727037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3AED0-2AA4-4DC9-8872-3ADC93FF9036}" type="slidenum">
              <a:rPr lang="sk-SK" smtClean="0"/>
              <a:t>22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795817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LcParenR"/>
            </a:pPr>
            <a:r>
              <a:rPr lang="sk-SK" dirty="0"/>
              <a:t>Doplnenie testov</a:t>
            </a:r>
          </a:p>
          <a:p>
            <a:pPr marL="228600" indent="-228600">
              <a:buAutoNum type="alphaLcParenR"/>
            </a:pPr>
            <a:r>
              <a:rPr lang="sk-SK" dirty="0"/>
              <a:t>Oprava kódu</a:t>
            </a:r>
          </a:p>
          <a:p>
            <a:pPr marL="228600" indent="-228600">
              <a:buAutoNum type="alphaLcParenR"/>
            </a:pPr>
            <a:r>
              <a:rPr lang="sk-SK" dirty="0"/>
              <a:t> Nevieme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527D9-497A-4DB6-A2DB-7C7ADBE34CE6}" type="slidenum">
              <a:rPr lang="sk-SK" smtClean="0"/>
              <a:t>30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132571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Calibri"/>
              <a:buChar char="-"/>
            </a:pPr>
            <a:r>
              <a:rPr lang="sk-SK"/>
              <a:t>[ukážky dokumentu už v inej časti prezentácie]</a:t>
            </a:r>
            <a:endParaRPr lang="en-US"/>
          </a:p>
          <a:p>
            <a:pPr marL="171450" indent="-171450">
              <a:buFont typeface="Calibri"/>
              <a:buChar char="-"/>
            </a:pPr>
            <a:r>
              <a:rPr lang="en-US" dirty="0">
                <a:latin typeface="Calibri"/>
                <a:ea typeface="Calibri"/>
                <a:cs typeface="Calibri"/>
              </a:rPr>
              <a:t>Su </a:t>
            </a:r>
            <a:r>
              <a:rPr lang="en-US" dirty="0" err="1">
                <a:latin typeface="Calibri"/>
                <a:ea typeface="Calibri"/>
                <a:cs typeface="Calibri"/>
              </a:rPr>
              <a:t>aj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ine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vysledky</a:t>
            </a:r>
            <a:r>
              <a:rPr lang="en-US" dirty="0">
                <a:latin typeface="Calibri"/>
                <a:ea typeface="Calibri"/>
                <a:cs typeface="Calibri"/>
              </a:rPr>
              <a:t> cosmic ray </a:t>
            </a:r>
            <a:r>
              <a:rPr lang="en-US" dirty="0" err="1">
                <a:latin typeface="Calibri"/>
                <a:ea typeface="Calibri"/>
                <a:cs typeface="Calibri"/>
              </a:rPr>
              <a:t>testu</a:t>
            </a:r>
            <a:r>
              <a:rPr lang="en-US" dirty="0">
                <a:latin typeface="Calibri"/>
                <a:ea typeface="Calibri"/>
                <a:cs typeface="Calibri"/>
              </a:rPr>
              <a:t>, s </a:t>
            </a:r>
            <a:r>
              <a:rPr lang="en-US" dirty="0" err="1">
                <a:latin typeface="Calibri"/>
                <a:ea typeface="Calibri"/>
                <a:cs typeface="Calibri"/>
              </a:rPr>
              <a:t>tými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tu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nepracujeme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527D9-497A-4DB6-A2DB-7C7ADBE34CE6}" type="slidenum">
              <a:rPr lang="sk-SK" smtClean="0"/>
              <a:t>32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646719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	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527D9-497A-4DB6-A2DB-7C7ADBE34CE6}" type="slidenum">
              <a:rPr lang="sk-SK" smtClean="0"/>
              <a:t>35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40587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2B61B-B673-ADF5-D76E-2B84D1827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2CF192-FF8F-9BF5-FF31-ACF95DDF8A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CBB7A-2F5E-B9FF-F16F-6EEA204AF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B0B45-9701-45FF-A822-4154A579F632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E058B-52D0-1A85-D624-5CB789162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CA368-A7E4-4B9A-24B5-50668BADB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BE216-2B99-4E83-89B9-464AF39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245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1024F-39AB-D005-050F-18CBD9B46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5B8F6-8FD5-988A-B468-862846843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77CC5-91F1-F042-C661-888986D19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B0B45-9701-45FF-A822-4154A579F632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78D8B-8990-F53C-0647-50E5862E0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C110A-B746-5E56-4326-464165C78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BE216-2B99-4E83-89B9-464AF39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93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53FC1-B0D7-92D2-D570-258EDD697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8BE01-C968-46D6-157B-A6164FF0E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BF103-A564-AEAB-F87D-363D4B677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B0B45-9701-45FF-A822-4154A579F632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FA8F7-E1A0-1391-0FEC-F44E5440F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AD186-80A4-1C41-2F95-3540F95C3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BE216-2B99-4E83-89B9-464AF39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B7472-D606-F6AD-5C11-9CC83DF56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01BD0-A351-2AD4-78EF-7BA0CF9875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7C9097-8883-D9DC-FDDE-89565C9EE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B3138-24FF-B8A0-B4A7-BBD117E24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B0B45-9701-45FF-A822-4154A579F632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3313F-E46D-651C-E773-C8C91C50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E3523-B3DC-7A77-5F38-246B23F88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BE216-2B99-4E83-89B9-464AF39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406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A6BAA-3026-0A7A-C818-09CE7A52D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A067D-E1B9-CF86-E7DD-83945D8EE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0E56F-C9E1-9402-F984-9AF38810D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7B95D2-74E6-9060-1ECF-8AE0CAEE69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9360C1-5546-2107-6070-CC933D52D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08060B-33B8-6097-7DDC-38C9FBA7D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B0B45-9701-45FF-A822-4154A579F632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AEF416-BE73-2385-9264-A81ACD5B0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F58DB0-4535-E615-341E-689AEEE65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BE216-2B99-4E83-89B9-464AF39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8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30147-17EB-7302-AB50-3B7E14E2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24DC6A-1713-1A12-6648-4ADA8E902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B0B45-9701-45FF-A822-4154A579F632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C7CA3D-B217-F969-BC6B-BC53755D9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DAE40-27AD-3AF6-CD45-9EFE61E66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BE216-2B99-4E83-89B9-464AF39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02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F4BE35-A0F4-C8A5-1039-640B3BF29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B0B45-9701-45FF-A822-4154A579F632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37D32A-20E0-68A0-D597-1254E77B7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14D28-0D00-83F8-AC9F-FABD3B74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BE216-2B99-4E83-89B9-464AF39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99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EAC1-374A-FB41-01CF-920C980BF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E0832-7CFC-DC9B-F572-6C825C81E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D52A5-1F3B-50BD-1A12-FFFAF8301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6FBEE-3D8F-B81A-078B-933BEAE50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B0B45-9701-45FF-A822-4154A579F632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BDE44-C932-5D56-360D-E2A4723F5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9FF5A-8BD0-AE14-03FB-36A6F317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BE216-2B99-4E83-89B9-464AF39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4DE7E-58CE-526E-6284-A27FE3D2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947A8E-3542-A329-656F-6917335DF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B95F2B-73DA-46A7-ED3B-2D1DB278C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24F4D-5B34-0C55-CBE8-8E15C64F3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B0B45-9701-45FF-A822-4154A579F632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A9-E886-BE27-6364-8F9951419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2B97F-9079-8B88-7F0E-7365B98E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BE216-2B99-4E83-89B9-464AF39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479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CF2F-92AD-2E02-9115-DE9C59C89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4BC276-DB7E-F8D2-71FD-603242B4A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1D47B-6F61-B02C-B2B0-7C13DD704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B0B45-9701-45FF-A822-4154A579F632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A0119-1E84-023B-566F-028857803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203D9-9067-24FB-DAB7-902008085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BE216-2B99-4E83-89B9-464AF39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45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D8DBC7-2636-BF8A-7580-C30DEA3A45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6DB2A-477A-B6C1-A7E0-F093B7FE3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3A23C-557E-D6BB-9A01-F8B1941F7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B0B45-9701-45FF-A822-4154A579F632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CB49A-0F59-C55B-FC7A-ED78D8069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FD013-F5FD-F78C-5A67-8E9745746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BE216-2B99-4E83-89B9-464AF39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80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3E14EA-A1E7-BAAE-83D3-E9A7145E0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3E29A-710D-4889-0320-8AE1D0CBD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D8A27-F109-4A02-30A7-2773BAAEBF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6B0B45-9701-45FF-A822-4154A579F632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4842A-B8FB-0CB7-1E7C-A82C9D810C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1E8F-1BB6-EA62-7507-085CA304E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BE216-2B99-4E83-89B9-464AF39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165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olest-oci/mutation-testing/blob/main/doc/research/Mut-testing-frameworks-comparison.xls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ython-validators/validators/issues/44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olest-oci/mutation-testing/wiki/Setup-RooCode-in-PyChar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hyperlink" Target="https://github.com/sixty-north/cosmic-ray/pull/573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80.png"/><Relationship Id="rId4" Type="http://schemas.openxmlformats.org/officeDocument/2006/relationships/customXml" Target="../ink/ink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23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50.png"/><Relationship Id="rId4" Type="http://schemas.openxmlformats.org/officeDocument/2006/relationships/customXml" Target="../ink/ink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hyperlink" Target="https://github.com/RichardMacko/cosmic-ray" TargetMode="External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hyperlink" Target="https://github.com/sixty-north/cosmic-ray/pull/577" TargetMode="External"/><Relationship Id="rId9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ixty-north/cosmic-ray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image" Target="../media/image42.png"/><Relationship Id="rId4" Type="http://schemas.openxmlformats.org/officeDocument/2006/relationships/customXml" Target="../ink/ink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577D5B-8B70-8B3F-D402-821947288A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5" y="639520"/>
            <a:ext cx="4864989" cy="171907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Mutation-based Testing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815E1-34CB-2250-F228-28D9F2717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Ondrej Babinský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Richard Macko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Matúš </a:t>
            </a:r>
            <a:r>
              <a:rPr lang="en-US" dirty="0" err="1"/>
              <a:t>Ratkovský</a:t>
            </a: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Steven </a:t>
            </a:r>
            <a:r>
              <a:rPr lang="en-US" dirty="0" err="1"/>
              <a:t>Gavlák</a:t>
            </a: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Jozef </a:t>
            </a:r>
            <a:r>
              <a:rPr lang="en-US" dirty="0" err="1"/>
              <a:t>Blaško</a:t>
            </a:r>
            <a:endParaRPr lang="sk-SK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sk-SK" dirty="0"/>
          </a:p>
          <a:p>
            <a:pPr algn="l"/>
            <a:r>
              <a:rPr lang="sk-SK" dirty="0"/>
              <a:t>Cvičiaci: Martin Marko</a:t>
            </a:r>
            <a:endParaRPr lang="en-US" dirty="0"/>
          </a:p>
        </p:txBody>
      </p:sp>
      <p:pic>
        <p:nvPicPr>
          <p:cNvPr id="7" name="Graphic 6" descr="DNA">
            <a:extLst>
              <a:ext uri="{FF2B5EF4-FFF2-40B4-BE49-F238E27FC236}">
                <a16:creationId xmlns:a16="http://schemas.microsoft.com/office/drawing/2014/main" id="{2952FB79-4C99-196D-B70D-D47DC4D51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7236" y="640080"/>
            <a:ext cx="557784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112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F0044E-0E32-DBE2-5441-E62E57477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Mutation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D34AF-2E7E-6183-8B56-A1BBC50A6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7634" y="700010"/>
            <a:ext cx="6545199" cy="545798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Ako </a:t>
            </a:r>
            <a:r>
              <a:rPr lang="en-US" sz="2400" b="1" dirty="0" err="1">
                <a:solidFill>
                  <a:schemeClr val="tx2"/>
                </a:solidFill>
              </a:rPr>
              <a:t>funguje</a:t>
            </a:r>
            <a:r>
              <a:rPr lang="en-US" sz="2400" b="1" dirty="0">
                <a:solidFill>
                  <a:schemeClr val="tx2"/>
                </a:solidFill>
              </a:rPr>
              <a:t>:</a:t>
            </a:r>
          </a:p>
          <a:p>
            <a:r>
              <a:rPr lang="en-US" sz="2400" dirty="0">
                <a:solidFill>
                  <a:schemeClr val="tx2"/>
                </a:solidFill>
              </a:rPr>
              <a:t>Framework </a:t>
            </a:r>
            <a:r>
              <a:rPr lang="en-US" sz="2400" dirty="0" err="1">
                <a:solidFill>
                  <a:schemeClr val="tx2"/>
                </a:solidFill>
              </a:rPr>
              <a:t>vytvorí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mutantov</a:t>
            </a:r>
            <a:r>
              <a:rPr lang="en-US" sz="2400" dirty="0">
                <a:solidFill>
                  <a:schemeClr val="tx2"/>
                </a:solidFill>
              </a:rPr>
              <a:t> (</a:t>
            </a:r>
            <a:r>
              <a:rPr lang="en-US" sz="2400" dirty="0" err="1">
                <a:solidFill>
                  <a:schemeClr val="tx2"/>
                </a:solidFill>
              </a:rPr>
              <a:t>zmení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kód</a:t>
            </a:r>
            <a:r>
              <a:rPr lang="en-US" sz="2400" dirty="0">
                <a:solidFill>
                  <a:schemeClr val="tx2"/>
                </a:solidFill>
              </a:rPr>
              <a:t>).</a:t>
            </a:r>
          </a:p>
          <a:p>
            <a:r>
              <a:rPr lang="en-US" sz="2400" dirty="0" err="1">
                <a:solidFill>
                  <a:schemeClr val="tx2"/>
                </a:solidFill>
              </a:rPr>
              <a:t>Spustí</a:t>
            </a:r>
            <a:r>
              <a:rPr lang="en-US" sz="2400" dirty="0">
                <a:solidFill>
                  <a:schemeClr val="tx2"/>
                </a:solidFill>
              </a:rPr>
              <a:t> testy pre </a:t>
            </a:r>
            <a:r>
              <a:rPr lang="en-US" sz="2400" dirty="0" err="1">
                <a:solidFill>
                  <a:schemeClr val="tx2"/>
                </a:solidFill>
              </a:rPr>
              <a:t>každý</a:t>
            </a:r>
            <a:r>
              <a:rPr lang="en-US" sz="2400" dirty="0">
                <a:solidFill>
                  <a:schemeClr val="tx2"/>
                </a:solidFill>
              </a:rPr>
              <a:t> mutant.</a:t>
            </a:r>
          </a:p>
          <a:p>
            <a:r>
              <a:rPr lang="en-US" sz="2400" dirty="0">
                <a:solidFill>
                  <a:schemeClr val="tx2"/>
                </a:solidFill>
              </a:rPr>
              <a:t>Ak testy </a:t>
            </a:r>
            <a:r>
              <a:rPr lang="en-US" sz="2400" dirty="0" err="1">
                <a:solidFill>
                  <a:schemeClr val="tx2"/>
                </a:solidFill>
              </a:rPr>
              <a:t>zlyhajú</a:t>
            </a:r>
            <a:r>
              <a:rPr lang="en-US" sz="2400" dirty="0">
                <a:solidFill>
                  <a:schemeClr val="tx2"/>
                </a:solidFill>
              </a:rPr>
              <a:t> → mutant je </a:t>
            </a:r>
            <a:r>
              <a:rPr lang="en-US" sz="2400" b="1" dirty="0">
                <a:solidFill>
                  <a:schemeClr val="tx2"/>
                </a:solidFill>
              </a:rPr>
              <a:t>killed</a:t>
            </a:r>
            <a:r>
              <a:rPr lang="en-US" sz="2400" dirty="0">
                <a:solidFill>
                  <a:schemeClr val="tx2"/>
                </a:solidFill>
              </a:rPr>
              <a:t> (</a:t>
            </a:r>
            <a:r>
              <a:rPr lang="en-US" sz="2400" dirty="0" err="1">
                <a:solidFill>
                  <a:schemeClr val="tx2"/>
                </a:solidFill>
              </a:rPr>
              <a:t>dobré</a:t>
            </a:r>
            <a:r>
              <a:rPr lang="en-US" sz="2400" dirty="0">
                <a:solidFill>
                  <a:schemeClr val="tx2"/>
                </a:solidFill>
              </a:rPr>
              <a:t>).</a:t>
            </a:r>
          </a:p>
          <a:p>
            <a:r>
              <a:rPr lang="en-US" sz="2400" dirty="0">
                <a:solidFill>
                  <a:schemeClr val="tx2"/>
                </a:solidFill>
              </a:rPr>
              <a:t>Ak testy </a:t>
            </a:r>
            <a:r>
              <a:rPr lang="en-US" sz="2400" dirty="0" err="1">
                <a:solidFill>
                  <a:schemeClr val="tx2"/>
                </a:solidFill>
              </a:rPr>
              <a:t>prejdú</a:t>
            </a:r>
            <a:r>
              <a:rPr lang="en-US" sz="2400" dirty="0">
                <a:solidFill>
                  <a:schemeClr val="tx2"/>
                </a:solidFill>
              </a:rPr>
              <a:t> → mutant </a:t>
            </a:r>
            <a:r>
              <a:rPr lang="en-US" sz="2400" b="1" dirty="0">
                <a:solidFill>
                  <a:schemeClr val="tx2"/>
                </a:solidFill>
              </a:rPr>
              <a:t>survived</a:t>
            </a:r>
            <a:r>
              <a:rPr lang="en-US" sz="2400" dirty="0">
                <a:solidFill>
                  <a:schemeClr val="tx2"/>
                </a:solidFill>
              </a:rPr>
              <a:t> → </a:t>
            </a:r>
            <a:r>
              <a:rPr lang="en-US" sz="2400" dirty="0" err="1">
                <a:solidFill>
                  <a:schemeClr val="tx2"/>
                </a:solidFill>
              </a:rPr>
              <a:t>slabé</a:t>
            </a:r>
            <a:r>
              <a:rPr lang="en-US" sz="2400" dirty="0">
                <a:solidFill>
                  <a:schemeClr val="tx2"/>
                </a:solidFill>
              </a:rPr>
              <a:t> testy</a:t>
            </a:r>
            <a:r>
              <a:rPr lang="sk-SK" sz="2400" dirty="0">
                <a:solidFill>
                  <a:schemeClr val="tx2"/>
                </a:solidFill>
              </a:rPr>
              <a:t>, zlý kód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chemeClr val="tx2"/>
                </a:solidFill>
              </a:rPr>
              <a:t>Prečo</a:t>
            </a:r>
            <a:r>
              <a:rPr lang="en-US" sz="2400" b="1" dirty="0">
                <a:solidFill>
                  <a:schemeClr val="tx2"/>
                </a:solidFill>
              </a:rPr>
              <a:t> mutation testing?</a:t>
            </a:r>
          </a:p>
          <a:p>
            <a:r>
              <a:rPr lang="en-US" sz="2400" dirty="0" err="1">
                <a:solidFill>
                  <a:schemeClr val="tx2"/>
                </a:solidFill>
              </a:rPr>
              <a:t>Klasické</a:t>
            </a:r>
            <a:r>
              <a:rPr lang="en-US" sz="2400" dirty="0">
                <a:solidFill>
                  <a:schemeClr val="tx2"/>
                </a:solidFill>
              </a:rPr>
              <a:t> unit testy </a:t>
            </a:r>
            <a:r>
              <a:rPr lang="en-US" sz="2400" dirty="0" err="1">
                <a:solidFill>
                  <a:schemeClr val="tx2"/>
                </a:solidFill>
              </a:rPr>
              <a:t>môžu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prechádzať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aj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keď</a:t>
            </a:r>
            <a:r>
              <a:rPr lang="en-US" sz="2400" dirty="0">
                <a:solidFill>
                  <a:schemeClr val="tx2"/>
                </a:solidFill>
              </a:rPr>
              <a:t> v </a:t>
            </a:r>
            <a:r>
              <a:rPr lang="en-US" sz="2400" dirty="0" err="1">
                <a:solidFill>
                  <a:schemeClr val="tx2"/>
                </a:solidFill>
              </a:rPr>
              <a:t>kóde</a:t>
            </a:r>
            <a:r>
              <a:rPr lang="en-US" sz="2400" dirty="0">
                <a:solidFill>
                  <a:schemeClr val="tx2"/>
                </a:solidFill>
              </a:rPr>
              <a:t> je bug.</a:t>
            </a:r>
          </a:p>
          <a:p>
            <a:r>
              <a:rPr lang="en-US" sz="2400" dirty="0">
                <a:solidFill>
                  <a:schemeClr val="tx2"/>
                </a:solidFill>
              </a:rPr>
              <a:t>Mutation testing </a:t>
            </a:r>
            <a:r>
              <a:rPr lang="en-US" sz="2400" dirty="0" err="1">
                <a:solidFill>
                  <a:schemeClr val="tx2"/>
                </a:solidFill>
              </a:rPr>
              <a:t>simuluje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chyby</a:t>
            </a:r>
            <a:r>
              <a:rPr lang="en-US" sz="2400" dirty="0">
                <a:solidFill>
                  <a:schemeClr val="tx2"/>
                </a:solidFill>
              </a:rPr>
              <a:t> a </a:t>
            </a:r>
            <a:r>
              <a:rPr lang="en-US" sz="2400" dirty="0" err="1">
                <a:solidFill>
                  <a:schemeClr val="tx2"/>
                </a:solidFill>
              </a:rPr>
              <a:t>overuje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či</a:t>
            </a:r>
            <a:r>
              <a:rPr lang="en-US" sz="2400" dirty="0">
                <a:solidFill>
                  <a:schemeClr val="tx2"/>
                </a:solidFill>
              </a:rPr>
              <a:t> testy </a:t>
            </a:r>
            <a:r>
              <a:rPr lang="en-US" sz="2400" dirty="0" err="1">
                <a:solidFill>
                  <a:schemeClr val="tx2"/>
                </a:solidFill>
              </a:rPr>
              <a:t>reagujú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správne</a:t>
            </a:r>
            <a:r>
              <a:rPr lang="sk-SK" sz="2400" dirty="0">
                <a:solidFill>
                  <a:schemeClr val="tx2"/>
                </a:solidFill>
              </a:rPr>
              <a:t> a kód je korektný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150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E7927C-E6EC-4D0A-27EC-CAE2EB205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EB61F1-B077-9A0A-4623-59A687DB4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sk-SK" sz="4800" dirty="0">
                <a:solidFill>
                  <a:schemeClr val="tx2"/>
                </a:solidFill>
              </a:rPr>
              <a:t>Ciele projektu</a:t>
            </a:r>
            <a:endParaRPr lang="en-US" sz="48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68759-17AC-A6D4-2A31-7E19F14C3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475" y="700010"/>
            <a:ext cx="6421374" cy="5457980"/>
          </a:xfrm>
        </p:spPr>
        <p:txBody>
          <a:bodyPr anchor="ctr">
            <a:normAutofit/>
          </a:bodyPr>
          <a:lstStyle/>
          <a:p>
            <a:r>
              <a:rPr lang="en-US" sz="2400" dirty="0" err="1">
                <a:solidFill>
                  <a:schemeClr val="tx2"/>
                </a:solidFill>
              </a:rPr>
              <a:t>Zjednodušiť</a:t>
            </a:r>
            <a:r>
              <a:rPr lang="en-US" sz="2400" dirty="0">
                <a:solidFill>
                  <a:schemeClr val="tx2"/>
                </a:solidFill>
              </a:rPr>
              <a:t> a </a:t>
            </a:r>
            <a:r>
              <a:rPr lang="en-US" sz="2400" dirty="0" err="1">
                <a:solidFill>
                  <a:schemeClr val="tx2"/>
                </a:solidFill>
              </a:rPr>
              <a:t>zrýchliť</a:t>
            </a:r>
            <a:r>
              <a:rPr lang="en-US" sz="2400" dirty="0">
                <a:solidFill>
                  <a:schemeClr val="tx2"/>
                </a:solidFill>
              </a:rPr>
              <a:t> mutation testing pre </a:t>
            </a:r>
            <a:r>
              <a:rPr lang="en-US" sz="2400" dirty="0" err="1">
                <a:solidFill>
                  <a:schemeClr val="tx2"/>
                </a:solidFill>
              </a:rPr>
              <a:t>vývojárov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  <a:endParaRPr lang="sk-SK" sz="2400" dirty="0">
              <a:solidFill>
                <a:schemeClr val="tx2"/>
              </a:solidFill>
            </a:endParaRPr>
          </a:p>
          <a:p>
            <a:r>
              <a:rPr lang="en-US" sz="2400" dirty="0" err="1">
                <a:solidFill>
                  <a:schemeClr val="tx2"/>
                </a:solidFill>
              </a:rPr>
              <a:t>Zaviesť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b="1" dirty="0">
                <a:solidFill>
                  <a:schemeClr val="tx2"/>
                </a:solidFill>
              </a:rPr>
              <a:t>AI-</a:t>
            </a:r>
            <a:r>
              <a:rPr lang="en-US" sz="2400" b="1" dirty="0" err="1">
                <a:solidFill>
                  <a:schemeClr val="tx2"/>
                </a:solidFill>
              </a:rPr>
              <a:t>riadený</a:t>
            </a:r>
            <a:r>
              <a:rPr lang="en-US" sz="2400" b="1" dirty="0">
                <a:solidFill>
                  <a:schemeClr val="tx2"/>
                </a:solidFill>
              </a:rPr>
              <a:t> workflow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pomocou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RooCode</a:t>
            </a:r>
            <a:r>
              <a:rPr lang="en-US" sz="2400" dirty="0">
                <a:solidFill>
                  <a:schemeClr val="tx2"/>
                </a:solidFill>
              </a:rPr>
              <a:t> a </a:t>
            </a:r>
            <a:r>
              <a:rPr lang="sk-SK" sz="2400" dirty="0">
                <a:solidFill>
                  <a:schemeClr val="tx2"/>
                </a:solidFill>
              </a:rPr>
              <a:t>predpripravených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promptov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  <a:endParaRPr lang="sk-SK" sz="2400" dirty="0">
              <a:solidFill>
                <a:schemeClr val="tx2"/>
              </a:solidFill>
            </a:endParaRPr>
          </a:p>
          <a:p>
            <a:r>
              <a:rPr lang="en-US" sz="2400" dirty="0" err="1">
                <a:solidFill>
                  <a:schemeClr val="tx2"/>
                </a:solidFill>
              </a:rPr>
              <a:t>Umožniť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efektívne</a:t>
            </a:r>
            <a:r>
              <a:rPr lang="en-US" sz="2400" dirty="0">
                <a:solidFill>
                  <a:schemeClr val="tx2"/>
                </a:solidFill>
              </a:rPr>
              <a:t> a </a:t>
            </a:r>
            <a:r>
              <a:rPr lang="en-US" sz="2400" b="1" dirty="0" err="1">
                <a:solidFill>
                  <a:schemeClr val="tx2"/>
                </a:solidFill>
              </a:rPr>
              <a:t>cielené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mutačné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testovanie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namiesto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náhodných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mutácií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  <a:endParaRPr lang="sk-SK" sz="2400" dirty="0">
              <a:solidFill>
                <a:schemeClr val="tx2"/>
              </a:solidFill>
            </a:endParaRPr>
          </a:p>
          <a:p>
            <a:r>
              <a:rPr lang="sk-SK" sz="2400" dirty="0">
                <a:solidFill>
                  <a:schemeClr val="tx2"/>
                </a:solidFill>
              </a:rPr>
              <a:t>Prípadne v</a:t>
            </a:r>
            <a:r>
              <a:rPr lang="en-US" sz="2400" dirty="0" err="1">
                <a:solidFill>
                  <a:schemeClr val="tx2"/>
                </a:solidFill>
              </a:rPr>
              <a:t>ylepšiť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existujúce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nástroje</a:t>
            </a:r>
            <a:r>
              <a:rPr lang="en-US" sz="2400" dirty="0">
                <a:solidFill>
                  <a:schemeClr val="tx2"/>
                </a:solidFill>
              </a:rPr>
              <a:t> pre mutation testing.</a:t>
            </a:r>
            <a:endParaRPr lang="sk-SK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684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E09B3B-7C0F-12BD-1D73-5E5564D87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892805"/>
              </p:ext>
            </p:extLst>
          </p:nvPr>
        </p:nvGraphicFramePr>
        <p:xfrm>
          <a:off x="333375" y="1027450"/>
          <a:ext cx="7435849" cy="4595034"/>
        </p:xfrm>
        <a:graphic>
          <a:graphicData uri="http://schemas.openxmlformats.org/drawingml/2006/table">
            <a:tbl>
              <a:tblPr/>
              <a:tblGrid>
                <a:gridCol w="528866">
                  <a:extLst>
                    <a:ext uri="{9D8B030D-6E8A-4147-A177-3AD203B41FA5}">
                      <a16:colId xmlns:a16="http://schemas.microsoft.com/office/drawing/2014/main" val="3906370176"/>
                    </a:ext>
                  </a:extLst>
                </a:gridCol>
                <a:gridCol w="1047153">
                  <a:extLst>
                    <a:ext uri="{9D8B030D-6E8A-4147-A177-3AD203B41FA5}">
                      <a16:colId xmlns:a16="http://schemas.microsoft.com/office/drawing/2014/main" val="626165838"/>
                    </a:ext>
                  </a:extLst>
                </a:gridCol>
                <a:gridCol w="1306298">
                  <a:extLst>
                    <a:ext uri="{9D8B030D-6E8A-4147-A177-3AD203B41FA5}">
                      <a16:colId xmlns:a16="http://schemas.microsoft.com/office/drawing/2014/main" val="264139293"/>
                    </a:ext>
                  </a:extLst>
                </a:gridCol>
                <a:gridCol w="1618329">
                  <a:extLst>
                    <a:ext uri="{9D8B030D-6E8A-4147-A177-3AD203B41FA5}">
                      <a16:colId xmlns:a16="http://schemas.microsoft.com/office/drawing/2014/main" val="586770116"/>
                    </a:ext>
                  </a:extLst>
                </a:gridCol>
                <a:gridCol w="1131771">
                  <a:extLst>
                    <a:ext uri="{9D8B030D-6E8A-4147-A177-3AD203B41FA5}">
                      <a16:colId xmlns:a16="http://schemas.microsoft.com/office/drawing/2014/main" val="1198848586"/>
                    </a:ext>
                  </a:extLst>
                </a:gridCol>
                <a:gridCol w="867340">
                  <a:extLst>
                    <a:ext uri="{9D8B030D-6E8A-4147-A177-3AD203B41FA5}">
                      <a16:colId xmlns:a16="http://schemas.microsoft.com/office/drawing/2014/main" val="1426150633"/>
                    </a:ext>
                  </a:extLst>
                </a:gridCol>
                <a:gridCol w="936092">
                  <a:extLst>
                    <a:ext uri="{9D8B030D-6E8A-4147-A177-3AD203B41FA5}">
                      <a16:colId xmlns:a16="http://schemas.microsoft.com/office/drawing/2014/main" val="1415219249"/>
                    </a:ext>
                  </a:extLst>
                </a:gridCol>
              </a:tblGrid>
              <a:tr h="31639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Programming Language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Language version requirements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dirty="0">
                          <a:effectLst/>
                        </a:rPr>
                        <a:t>Last Update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OS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Test Runners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dirty="0">
                          <a:effectLst/>
                        </a:rPr>
                        <a:t>Custom mutators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189633"/>
                  </a:ext>
                </a:extLst>
              </a:tr>
              <a:tr h="3163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Cosmic Ray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Python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Python 3.xx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2025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Windows, Linux, MacOs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All relevant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867372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MutMut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Python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Python</a:t>
                      </a:r>
                      <a:r>
                        <a:rPr lang="sk-SK" sz="900" dirty="0">
                          <a:effectLst/>
                        </a:rPr>
                        <a:t> </a:t>
                      </a:r>
                      <a:r>
                        <a:rPr lang="en-US" sz="900" dirty="0">
                          <a:effectLst/>
                        </a:rPr>
                        <a:t>&gt;=3.6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2025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Linux, </a:t>
                      </a:r>
                      <a:r>
                        <a:rPr lang="en-US" sz="900" dirty="0" err="1">
                          <a:effectLst/>
                        </a:rPr>
                        <a:t>MacOs</a:t>
                      </a: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 err="1">
                          <a:effectLst/>
                        </a:rPr>
                        <a:t>pytest</a:t>
                      </a: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No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92828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MutPy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Python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3.3 </a:t>
                      </a:r>
                      <a:r>
                        <a:rPr lang="sk-SK" sz="900" dirty="0">
                          <a:effectLst/>
                        </a:rPr>
                        <a:t> - </a:t>
                      </a:r>
                      <a:r>
                        <a:rPr lang="en-US" sz="900" dirty="0">
                          <a:effectLst/>
                        </a:rPr>
                        <a:t>3.11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2019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Windows, Linux, MacOs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pytest, unittest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044633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XMutant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Python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Python 3.</a:t>
                      </a:r>
                      <a:r>
                        <a:rPr lang="sk-SK" sz="900" dirty="0">
                          <a:effectLst/>
                        </a:rPr>
                        <a:t>6</a:t>
                      </a: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2018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Windows, Linux, </a:t>
                      </a:r>
                      <a:r>
                        <a:rPr lang="en-US" sz="900" dirty="0" err="1">
                          <a:effectLst/>
                        </a:rPr>
                        <a:t>MacOs</a:t>
                      </a: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doctests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688523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Mutatest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Python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Python 3.7 or 3.8.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2023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Windows, Linux, MacOs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pytest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509592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Poodle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Python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Python 3.9 - 3.12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03/02/2024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Windows, Linux, MacOs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All relevant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No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923148"/>
                  </a:ext>
                </a:extLst>
              </a:tr>
              <a:tr h="25299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620363"/>
                  </a:ext>
                </a:extLst>
              </a:tr>
              <a:tr h="25299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520767"/>
                  </a:ext>
                </a:extLst>
              </a:tr>
              <a:tr h="31639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Selective mutating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Paralel mutating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Report format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Ease of setup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Community support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AST Parser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084357"/>
                  </a:ext>
                </a:extLst>
              </a:tr>
              <a:tr h="3163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Cosmic Ray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Html, console, </a:t>
                      </a:r>
                      <a:r>
                        <a:rPr lang="sk-SK" sz="900" dirty="0">
                          <a:effectLst/>
                        </a:rPr>
                        <a:t>JSON</a:t>
                      </a:r>
                      <a:r>
                        <a:rPr lang="en-US" sz="900" dirty="0">
                          <a:effectLst/>
                        </a:rPr>
                        <a:t> database dump, XML 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Moderate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Moderate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 err="1">
                          <a:effectLst/>
                        </a:rPr>
                        <a:t>Parso</a:t>
                      </a: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000753"/>
                  </a:ext>
                </a:extLst>
              </a:tr>
              <a:tr h="3163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MutMut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custom GUI or .html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Moderate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Moderate</a:t>
                      </a:r>
                      <a:br>
                        <a:rPr lang="en-US" sz="900" dirty="0">
                          <a:effectLst/>
                        </a:rPr>
                      </a:b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 err="1">
                          <a:effectLst/>
                        </a:rPr>
                        <a:t>Parso</a:t>
                      </a: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374464"/>
                  </a:ext>
                </a:extLst>
              </a:tr>
              <a:tr h="3163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MutPy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No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YAML/HTML 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Easy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Moderate</a:t>
                      </a:r>
                      <a:br>
                        <a:rPr lang="en-US" sz="900">
                          <a:effectLst/>
                        </a:rPr>
                      </a:br>
                      <a:endParaRPr lang="en-US" sz="90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 err="1">
                          <a:effectLst/>
                        </a:rPr>
                        <a:t>ast</a:t>
                      </a: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336253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XMutant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Text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Easy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None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bytecode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64764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Mutatest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Text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Moderate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Moderate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 err="1">
                          <a:effectLst/>
                        </a:rPr>
                        <a:t>ast</a:t>
                      </a: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731799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Poodle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Text, Html, Json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sk-SK" sz="900" dirty="0" err="1">
                          <a:effectLst/>
                        </a:rPr>
                        <a:t>Moderate</a:t>
                      </a: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Low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 err="1">
                          <a:effectLst/>
                        </a:rPr>
                        <a:t>ast</a:t>
                      </a: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88847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877C58-6DAD-689E-1E65-DE0B3F0C7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201134"/>
              </p:ext>
            </p:extLst>
          </p:nvPr>
        </p:nvGraphicFramePr>
        <p:xfrm>
          <a:off x="8140701" y="1027450"/>
          <a:ext cx="3713571" cy="4549748"/>
        </p:xfrm>
        <a:graphic>
          <a:graphicData uri="http://schemas.openxmlformats.org/drawingml/2006/table">
            <a:tbl>
              <a:tblPr/>
              <a:tblGrid>
                <a:gridCol w="782070">
                  <a:extLst>
                    <a:ext uri="{9D8B030D-6E8A-4147-A177-3AD203B41FA5}">
                      <a16:colId xmlns:a16="http://schemas.microsoft.com/office/drawing/2014/main" val="2153834982"/>
                    </a:ext>
                  </a:extLst>
                </a:gridCol>
                <a:gridCol w="1417818">
                  <a:extLst>
                    <a:ext uri="{9D8B030D-6E8A-4147-A177-3AD203B41FA5}">
                      <a16:colId xmlns:a16="http://schemas.microsoft.com/office/drawing/2014/main" val="3538631323"/>
                    </a:ext>
                  </a:extLst>
                </a:gridCol>
                <a:gridCol w="504561">
                  <a:extLst>
                    <a:ext uri="{9D8B030D-6E8A-4147-A177-3AD203B41FA5}">
                      <a16:colId xmlns:a16="http://schemas.microsoft.com/office/drawing/2014/main" val="1653926826"/>
                    </a:ext>
                  </a:extLst>
                </a:gridCol>
                <a:gridCol w="504561">
                  <a:extLst>
                    <a:ext uri="{9D8B030D-6E8A-4147-A177-3AD203B41FA5}">
                      <a16:colId xmlns:a16="http://schemas.microsoft.com/office/drawing/2014/main" val="1607090353"/>
                    </a:ext>
                  </a:extLst>
                </a:gridCol>
                <a:gridCol w="504561">
                  <a:extLst>
                    <a:ext uri="{9D8B030D-6E8A-4147-A177-3AD203B41FA5}">
                      <a16:colId xmlns:a16="http://schemas.microsoft.com/office/drawing/2014/main" val="573177812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b="1">
                          <a:effectLst/>
                        </a:rPr>
                        <a:t>Mutation example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b="1">
                          <a:effectLst/>
                        </a:rPr>
                        <a:t>Mutation type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>
                          <a:effectLst/>
                        </a:rPr>
                        <a:t>mutmut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>
                          <a:effectLst/>
                        </a:rPr>
                        <a:t>mutpy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 dirty="0">
                          <a:effectLst/>
                        </a:rPr>
                        <a:t>cosmic ray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022812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a + b → a - b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Arithmetic Operator Replacement (AOR)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590437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x &amp; y → x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Bitwise Operator Replacement (BOR)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453202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x == y → x != y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Comparison Operator Replacement (COR)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164515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and → or, True → False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Logical Operator Replacement (LOR)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84487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-x → +x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Unary Operator Replacement (UOR)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85318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break → continue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Control Flow Replacement (CFR)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78764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5 → 0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Numerical constant Replacement (CRP)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88233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raise A → raise B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Exception Handling Mutations (EXM)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680508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removes @decorator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Decorator Removal (DEC)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0185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x → y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Variable Replacement (VRP)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92251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"hello" → "world"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String mutator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1428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Deletes entire if block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Block statement mutator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53433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return x → return None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Method mutator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198344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D5D8AB8A-8D23-2F7E-2DE7-8F0340C25A1A}"/>
              </a:ext>
            </a:extLst>
          </p:cNvPr>
          <p:cNvSpPr txBox="1">
            <a:spLocks/>
          </p:cNvSpPr>
          <p:nvPr/>
        </p:nvSpPr>
        <p:spPr>
          <a:xfrm>
            <a:off x="673100" y="196850"/>
            <a:ext cx="10515600" cy="7667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4400" dirty="0"/>
              <a:t>Výber </a:t>
            </a:r>
            <a:r>
              <a:rPr lang="sk-SK" sz="4400" dirty="0" err="1"/>
              <a:t>Mutation</a:t>
            </a:r>
            <a:r>
              <a:rPr lang="sk-SK" sz="4400" dirty="0"/>
              <a:t> </a:t>
            </a:r>
            <a:r>
              <a:rPr lang="sk-SK" sz="4400" dirty="0" err="1"/>
              <a:t>Testing</a:t>
            </a:r>
            <a:r>
              <a:rPr lang="sk-SK" sz="4400" dirty="0"/>
              <a:t> </a:t>
            </a:r>
            <a:r>
              <a:rPr lang="sk-SK" sz="4400" dirty="0" err="1"/>
              <a:t>Frameworkov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05C0A-F846-6595-4836-CDA70056FFE6}"/>
              </a:ext>
            </a:extLst>
          </p:cNvPr>
          <p:cNvSpPr txBox="1"/>
          <p:nvPr/>
        </p:nvSpPr>
        <p:spPr>
          <a:xfrm>
            <a:off x="10286999" y="382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Ondrej Babinský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7AAA08-7045-3B13-756B-91040DA4925C}"/>
              </a:ext>
            </a:extLst>
          </p:cNvPr>
          <p:cNvSpPr txBox="1"/>
          <p:nvPr/>
        </p:nvSpPr>
        <p:spPr>
          <a:xfrm>
            <a:off x="1431721" y="5942747"/>
            <a:ext cx="9328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https://github.com/Bolest-oci/mutation-testing/blob/main/doc/research/Mut-testing-frameworks-comparison.xlsx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2779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19788A-D879-9522-FDD1-661674B32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35DB090-93B5-4581-8D71-BB3839684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9619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337E78-8263-769E-1769-5747E4D0F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4895881" cy="18005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dirty="0"/>
              <a:t>Bug </a:t>
            </a:r>
            <a:r>
              <a:rPr lang="en-US" sz="4100" dirty="0" err="1"/>
              <a:t>odhalený</a:t>
            </a:r>
            <a:r>
              <a:rPr lang="en-US" sz="4100" dirty="0"/>
              <a:t> </a:t>
            </a:r>
            <a:r>
              <a:rPr lang="en-US" sz="4100" dirty="0" err="1"/>
              <a:t>pomocou</a:t>
            </a:r>
            <a:r>
              <a:rPr lang="en-US" sz="4100" dirty="0"/>
              <a:t> Mutation Testing</a:t>
            </a:r>
            <a:r>
              <a:rPr lang="sk-SK" sz="4100" dirty="0"/>
              <a:t>-u</a:t>
            </a:r>
            <a:endParaRPr lang="en-US" sz="4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7077D9-203E-42EC-8ABD-1E70114E02A4}"/>
              </a:ext>
            </a:extLst>
          </p:cNvPr>
          <p:cNvSpPr txBox="1"/>
          <p:nvPr/>
        </p:nvSpPr>
        <p:spPr>
          <a:xfrm>
            <a:off x="679436" y="2608939"/>
            <a:ext cx="5562600" cy="37869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k-SK" sz="2400" dirty="0"/>
              <a:t>Testovanie knižnice </a:t>
            </a:r>
            <a:r>
              <a:rPr lang="sk-SK" sz="2400" dirty="0" err="1"/>
              <a:t>validators</a:t>
            </a:r>
            <a:r>
              <a:rPr lang="sk-SK" sz="2400" dirty="0"/>
              <a:t> </a:t>
            </a:r>
            <a:r>
              <a:rPr lang="en-US" sz="2400" dirty="0"/>
              <a:t>s</a:t>
            </a:r>
            <a:r>
              <a:rPr lang="sk-SK" sz="2400" dirty="0"/>
              <a:t> </a:t>
            </a:r>
            <a:r>
              <a:rPr lang="sk-SK" sz="2400" dirty="0" err="1"/>
              <a:t>frameworkom</a:t>
            </a:r>
            <a:r>
              <a:rPr lang="en-US" sz="2400" dirty="0"/>
              <a:t> cosmic ray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k-SK" sz="2400" dirty="0"/>
              <a:t>Mutácie </a:t>
            </a:r>
            <a:r>
              <a:rPr lang="en-US" sz="2400" dirty="0" err="1"/>
              <a:t>odhalili</a:t>
            </a:r>
            <a:r>
              <a:rPr lang="en-US" sz="2400" dirty="0"/>
              <a:t> </a:t>
            </a:r>
            <a:r>
              <a:rPr lang="sk-SK" sz="2400" dirty="0"/>
              <a:t>chybnú</a:t>
            </a:r>
            <a:r>
              <a:rPr lang="en-US" sz="2400" dirty="0"/>
              <a:t> </a:t>
            </a:r>
            <a:r>
              <a:rPr lang="en-US" sz="2400" dirty="0" err="1"/>
              <a:t>implementáciu</a:t>
            </a:r>
            <a:r>
              <a:rPr lang="en-US" sz="2400" dirty="0"/>
              <a:t> </a:t>
            </a:r>
            <a:r>
              <a:rPr lang="sk-SK" sz="2400" dirty="0"/>
              <a:t>validátorov modulu </a:t>
            </a:r>
            <a:r>
              <a:rPr lang="sk-SK" sz="2400" dirty="0" err="1"/>
              <a:t>finance</a:t>
            </a:r>
            <a:r>
              <a:rPr lang="sk-SK" sz="2400" dirty="0"/>
              <a:t> (identifikátore cenných dokumentov)</a:t>
            </a:r>
            <a:endParaRPr lang="en-US" sz="2400" dirty="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Checksum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b="1" dirty="0" err="1"/>
              <a:t>vôbec</a:t>
            </a:r>
            <a:r>
              <a:rPr lang="en-US" sz="2400" b="1" dirty="0"/>
              <a:t> </a:t>
            </a:r>
            <a:r>
              <a:rPr lang="en-US" sz="2400" b="1" dirty="0" err="1"/>
              <a:t>nepočíta</a:t>
            </a:r>
            <a:endParaRPr lang="en-US" sz="2400" b="1" dirty="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Akceptujú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dirty="0" err="1"/>
              <a:t>malé</a:t>
            </a:r>
            <a:r>
              <a:rPr lang="en-US" sz="2400" dirty="0"/>
              <a:t> </a:t>
            </a:r>
            <a:r>
              <a:rPr lang="en-US" sz="2400" dirty="0" err="1"/>
              <a:t>písmená</a:t>
            </a:r>
            <a:endParaRPr lang="en-US" sz="2400" dirty="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Testy </a:t>
            </a:r>
            <a:r>
              <a:rPr lang="en-US" sz="2400" dirty="0" err="1"/>
              <a:t>prechádzajú</a:t>
            </a:r>
            <a:r>
              <a:rPr lang="en-US" sz="2400" dirty="0"/>
              <a:t>, ale </a:t>
            </a:r>
            <a:r>
              <a:rPr lang="en-US" sz="2400" dirty="0" err="1"/>
              <a:t>kód</a:t>
            </a:r>
            <a:r>
              <a:rPr lang="en-US" sz="2400" dirty="0"/>
              <a:t> je </a:t>
            </a:r>
            <a:r>
              <a:rPr lang="en-US" sz="2400" dirty="0" err="1"/>
              <a:t>chybný</a:t>
            </a:r>
            <a:endParaRPr lang="sk-SK" sz="2400" dirty="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hlinkClick r:id="rId3"/>
              </a:rPr>
              <a:t>https://github.com/python-validators/validators/issues/440</a:t>
            </a:r>
            <a:r>
              <a:rPr lang="sk-SK" sz="2400" dirty="0"/>
              <a:t> 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A57388-E0FD-9658-E2F9-D436BCB1F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983" y="2676182"/>
            <a:ext cx="4820817" cy="40133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102551-C91C-DA80-8AF9-7EFAB32D2A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4081" y="0"/>
            <a:ext cx="3382624" cy="26089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3A2425-2157-F366-121A-3F9E93FB9186}"/>
              </a:ext>
            </a:extLst>
          </p:cNvPr>
          <p:cNvSpPr txBox="1"/>
          <p:nvPr/>
        </p:nvSpPr>
        <p:spPr>
          <a:xfrm>
            <a:off x="10286999" y="382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Ondrej Babinský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71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334773-9985-F71E-A837-812ECF61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dirty="0" err="1"/>
              <a:t>Použitie</a:t>
            </a:r>
            <a:r>
              <a:rPr lang="en-US" sz="3700" b="1" dirty="0"/>
              <a:t> </a:t>
            </a:r>
            <a:r>
              <a:rPr lang="en-US" sz="3700" b="1" dirty="0" err="1"/>
              <a:t>RooCode</a:t>
            </a:r>
            <a:r>
              <a:rPr lang="en-US" sz="3700" b="1" dirty="0"/>
              <a:t> v mutation-</a:t>
            </a:r>
            <a:r>
              <a:rPr lang="en-US" sz="3700" b="1" dirty="0" err="1"/>
              <a:t>testingu</a:t>
            </a:r>
            <a:endParaRPr lang="en-US" sz="3700" dirty="0"/>
          </a:p>
        </p:txBody>
      </p:sp>
      <p:grpSp>
        <p:nvGrpSpPr>
          <p:cNvPr id="2080" name="Group 2079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081" name="Rectangle 208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2" name="Rectangle 208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84" name="Rectangle 2083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F00A22-2ADA-8D41-33D0-661F74FF7209}"/>
              </a:ext>
            </a:extLst>
          </p:cNvPr>
          <p:cNvSpPr txBox="1"/>
          <p:nvPr/>
        </p:nvSpPr>
        <p:spPr>
          <a:xfrm>
            <a:off x="-124538" y="2184431"/>
            <a:ext cx="5876926" cy="4270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b="1" dirty="0" err="1"/>
              <a:t>RooCode</a:t>
            </a:r>
            <a:r>
              <a:rPr lang="en-US" sz="2100" b="1" dirty="0"/>
              <a:t> </a:t>
            </a:r>
            <a:r>
              <a:rPr lang="en-US" sz="2100" dirty="0"/>
              <a:t>je AI agent </a:t>
            </a:r>
            <a:r>
              <a:rPr lang="en-US" sz="2100" dirty="0" err="1"/>
              <a:t>určený</a:t>
            </a:r>
            <a:r>
              <a:rPr lang="en-US" sz="2100" dirty="0"/>
              <a:t> </a:t>
            </a:r>
            <a:r>
              <a:rPr lang="en-US" sz="2100" dirty="0" err="1"/>
              <a:t>na</a:t>
            </a:r>
            <a:r>
              <a:rPr lang="en-US" sz="2100" dirty="0"/>
              <a:t> </a:t>
            </a:r>
            <a:r>
              <a:rPr lang="en-US" sz="2100" dirty="0" err="1"/>
              <a:t>riadenie</a:t>
            </a:r>
            <a:r>
              <a:rPr lang="en-US" sz="2100" dirty="0"/>
              <a:t> a </a:t>
            </a:r>
            <a:r>
              <a:rPr lang="en-US" sz="2100" dirty="0" err="1"/>
              <a:t>automatizáciu</a:t>
            </a:r>
            <a:r>
              <a:rPr lang="en-US" sz="2100" dirty="0"/>
              <a:t> </a:t>
            </a:r>
            <a:r>
              <a:rPr lang="en-US" sz="2100" dirty="0" err="1"/>
              <a:t>workflowov</a:t>
            </a:r>
            <a:r>
              <a:rPr lang="en-US" sz="2100" dirty="0"/>
              <a:t> v </a:t>
            </a:r>
            <a:r>
              <a:rPr lang="en-US" sz="2100" dirty="0" err="1"/>
              <a:t>projekte</a:t>
            </a:r>
            <a:r>
              <a:rPr lang="en-US" sz="2100" dirty="0"/>
              <a:t>.</a:t>
            </a:r>
            <a:endParaRPr lang="sk-SK" sz="2100" dirty="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V </a:t>
            </a:r>
            <a:r>
              <a:rPr lang="en-US" sz="2100" b="1" dirty="0"/>
              <a:t>VS Code</a:t>
            </a:r>
            <a:r>
              <a:rPr lang="en-US" sz="2100" dirty="0"/>
              <a:t> </a:t>
            </a:r>
            <a:r>
              <a:rPr lang="en-US" sz="2100" dirty="0" err="1"/>
              <a:t>funguje</a:t>
            </a:r>
            <a:r>
              <a:rPr lang="en-US" sz="2100" dirty="0"/>
              <a:t> bez </a:t>
            </a:r>
            <a:r>
              <a:rPr lang="en-US" sz="2100" dirty="0" err="1"/>
              <a:t>problémov</a:t>
            </a:r>
            <a:r>
              <a:rPr lang="en-US" sz="2100" dirty="0"/>
              <a:t>, ale </a:t>
            </a:r>
            <a:r>
              <a:rPr lang="en-US" sz="2100" dirty="0" err="1"/>
              <a:t>napríklad</a:t>
            </a:r>
            <a:r>
              <a:rPr lang="en-US" sz="2100" dirty="0"/>
              <a:t> v  </a:t>
            </a:r>
            <a:r>
              <a:rPr lang="en-US" sz="2100" b="1" dirty="0"/>
              <a:t>PyCharm-e</a:t>
            </a:r>
            <a:r>
              <a:rPr lang="en-US" sz="2100" dirty="0"/>
              <a:t> </a:t>
            </a:r>
            <a:r>
              <a:rPr lang="en-US" sz="2100" dirty="0" err="1"/>
              <a:t>nie</a:t>
            </a:r>
            <a:r>
              <a:rPr lang="en-US" sz="2100" dirty="0"/>
              <a:t> je </a:t>
            </a:r>
            <a:r>
              <a:rPr lang="en-US" sz="2100" dirty="0" err="1"/>
              <a:t>podporovaný</a:t>
            </a:r>
            <a:endParaRPr lang="en-US" sz="2100" dirty="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 err="1"/>
              <a:t>Riešenie</a:t>
            </a:r>
            <a:r>
              <a:rPr lang="en-US" sz="2100" dirty="0"/>
              <a:t>: </a:t>
            </a:r>
            <a:r>
              <a:rPr lang="en-US" sz="2100" b="1" dirty="0" err="1"/>
              <a:t>RooCode</a:t>
            </a:r>
            <a:r>
              <a:rPr lang="en-US" sz="2100" b="1" dirty="0"/>
              <a:t> </a:t>
            </a:r>
            <a:r>
              <a:rPr lang="en-US" sz="2100" b="1" dirty="0" err="1"/>
              <a:t>cez</a:t>
            </a:r>
            <a:r>
              <a:rPr lang="en-US" sz="2100" b="1" dirty="0"/>
              <a:t> </a:t>
            </a:r>
            <a:r>
              <a:rPr lang="en-US" sz="2100" b="1" dirty="0" err="1"/>
              <a:t>RunVSAgent</a:t>
            </a:r>
            <a:r>
              <a:rPr lang="en-US" sz="2100" dirty="0"/>
              <a:t> (bridge </a:t>
            </a:r>
            <a:r>
              <a:rPr lang="en-US" sz="2100" dirty="0" err="1"/>
              <a:t>medzi</a:t>
            </a:r>
            <a:r>
              <a:rPr lang="en-US" sz="2100" dirty="0"/>
              <a:t> PyCharm a VS Code </a:t>
            </a:r>
            <a:r>
              <a:rPr lang="en-US" sz="2100" dirty="0" err="1"/>
              <a:t>agentami</a:t>
            </a:r>
            <a:r>
              <a:rPr lang="en-US" sz="2100" dirty="0"/>
              <a:t>).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 err="1"/>
              <a:t>Vytvorený</a:t>
            </a:r>
            <a:r>
              <a:rPr lang="en-US" sz="2100" dirty="0"/>
              <a:t> </a:t>
            </a:r>
            <a:r>
              <a:rPr lang="en-US" sz="2100" b="1" dirty="0"/>
              <a:t>setup </a:t>
            </a:r>
            <a:r>
              <a:rPr lang="en-US" sz="2100" b="1" dirty="0" err="1"/>
              <a:t>tutoriál</a:t>
            </a:r>
            <a:r>
              <a:rPr lang="en-US" sz="2100" dirty="0"/>
              <a:t>, </a:t>
            </a:r>
            <a:r>
              <a:rPr lang="en-US" sz="2100" dirty="0" err="1"/>
              <a:t>ktorý</a:t>
            </a:r>
            <a:r>
              <a:rPr lang="en-US" sz="2100" dirty="0"/>
              <a:t> </a:t>
            </a:r>
            <a:r>
              <a:rPr lang="en-US" sz="2100" dirty="0" err="1"/>
              <a:t>umožňuje</a:t>
            </a:r>
            <a:r>
              <a:rPr lang="en-US" sz="2100" dirty="0"/>
              <a:t> </a:t>
            </a:r>
            <a:r>
              <a:rPr lang="en-US" sz="2100" dirty="0" err="1"/>
              <a:t>tímu</a:t>
            </a:r>
            <a:r>
              <a:rPr lang="en-US" sz="2100" dirty="0"/>
              <a:t> </a:t>
            </a:r>
            <a:r>
              <a:rPr lang="en-US" sz="2100" dirty="0" err="1"/>
              <a:t>aj</a:t>
            </a:r>
            <a:r>
              <a:rPr lang="en-US" sz="2100" dirty="0"/>
              <a:t> </a:t>
            </a:r>
            <a:r>
              <a:rPr lang="en-US" sz="2100" dirty="0" err="1"/>
              <a:t>externým</a:t>
            </a:r>
            <a:r>
              <a:rPr lang="en-US" sz="2100" dirty="0"/>
              <a:t> </a:t>
            </a:r>
            <a:r>
              <a:rPr lang="en-US" sz="2100" dirty="0" err="1"/>
              <a:t>používateľom</a:t>
            </a:r>
            <a:r>
              <a:rPr lang="en-US" sz="2100" dirty="0"/>
              <a:t> </a:t>
            </a:r>
            <a:r>
              <a:rPr lang="en-US" sz="2100" dirty="0" err="1"/>
              <a:t>RooCode</a:t>
            </a:r>
            <a:r>
              <a:rPr lang="en-US" sz="2100" dirty="0"/>
              <a:t> </a:t>
            </a:r>
            <a:r>
              <a:rPr lang="en-US" sz="2100" dirty="0" err="1"/>
              <a:t>používať</a:t>
            </a:r>
            <a:r>
              <a:rPr lang="en-US" sz="2100" dirty="0"/>
              <a:t> </a:t>
            </a:r>
            <a:r>
              <a:rPr lang="en-US" sz="2100" dirty="0" err="1"/>
              <a:t>priamo</a:t>
            </a:r>
            <a:r>
              <a:rPr lang="en-US" sz="2100" dirty="0"/>
              <a:t> v </a:t>
            </a:r>
            <a:r>
              <a:rPr lang="en-US" sz="2100" dirty="0" err="1"/>
              <a:t>PyCharme</a:t>
            </a:r>
            <a:r>
              <a:rPr lang="en-US" sz="2100" dirty="0"/>
              <a:t>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hlinkClick r:id="rId3"/>
              </a:rPr>
              <a:t>https://github.com/Bolest-oci/mutation-testing/wiki/Setup-RooCode-in-PyCharm</a:t>
            </a:r>
            <a:r>
              <a:rPr lang="en-US" sz="2100" dirty="0"/>
              <a:t> </a:t>
            </a:r>
          </a:p>
        </p:txBody>
      </p:sp>
      <p:sp>
        <p:nvSpPr>
          <p:cNvPr id="2086" name="Rectangle 2085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8" name="Rectangle 208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61" name="Picture 13" descr="Roo Code · GitHub">
            <a:extLst>
              <a:ext uri="{FF2B5EF4-FFF2-40B4-BE49-F238E27FC236}">
                <a16:creationId xmlns:a16="http://schemas.microsoft.com/office/drawing/2014/main" id="{863810DF-A245-42FF-3FD2-11A45BCA9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62"/>
          <a:stretch>
            <a:fillRect/>
          </a:stretch>
        </p:blipFill>
        <p:spPr bwMode="auto">
          <a:xfrm>
            <a:off x="6041006" y="812006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29BBC5-14EF-C0D7-49CF-EA3C1E2BEB99}"/>
              </a:ext>
            </a:extLst>
          </p:cNvPr>
          <p:cNvSpPr txBox="1"/>
          <p:nvPr/>
        </p:nvSpPr>
        <p:spPr>
          <a:xfrm>
            <a:off x="10286999" y="382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Ondrej Babinský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45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C6693D-2AD9-94AD-F029-B25BB90FF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853" y="4653886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 dirty="0"/>
              <a:t>Use Case – Targeted Mutation Testing</a:t>
            </a:r>
          </a:p>
        </p:txBody>
      </p:sp>
      <p:pic>
        <p:nvPicPr>
          <p:cNvPr id="10" name="Picture 9" descr="A screenshot of a test&#10;&#10;AI-generated content may be incorrect.">
            <a:extLst>
              <a:ext uri="{FF2B5EF4-FFF2-40B4-BE49-F238E27FC236}">
                <a16:creationId xmlns:a16="http://schemas.microsoft.com/office/drawing/2014/main" id="{968CC7FB-9083-99E0-EBDD-3BF6857D81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091" y="395324"/>
            <a:ext cx="5833951" cy="4344143"/>
          </a:xfrm>
          <a:prstGeom prst="rect">
            <a:avLst/>
          </a:prstGeom>
        </p:spPr>
      </p:pic>
      <p:pic>
        <p:nvPicPr>
          <p:cNvPr id="8" name="Picture 7" descr="A diagram of a target test&#10;&#10;AI-generated content may be incorrect.">
            <a:extLst>
              <a:ext uri="{FF2B5EF4-FFF2-40B4-BE49-F238E27FC236}">
                <a16:creationId xmlns:a16="http://schemas.microsoft.com/office/drawing/2014/main" id="{39525E17-477A-040F-F7A7-1016243496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8" y="398452"/>
            <a:ext cx="6135623" cy="4015743"/>
          </a:xfrm>
          <a:prstGeom prst="rect">
            <a:avLst/>
          </a:prstGeom>
        </p:spPr>
      </p:pic>
      <p:sp>
        <p:nvSpPr>
          <p:cNvPr id="1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A02CF-00DD-7378-B836-D6ACCF927527}"/>
              </a:ext>
            </a:extLst>
          </p:cNvPr>
          <p:cNvSpPr txBox="1"/>
          <p:nvPr/>
        </p:nvSpPr>
        <p:spPr>
          <a:xfrm>
            <a:off x="10286999" y="382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Ondrej Babinský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627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2" name="Rectangle 221">
            <a:extLst>
              <a:ext uri="{FF2B5EF4-FFF2-40B4-BE49-F238E27FC236}">
                <a16:creationId xmlns:a16="http://schemas.microsoft.com/office/drawing/2014/main" id="{7E6D2D34-4BB4-460B-8844-027610FB2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C5314570-9B06-4D37-8CBD-EDD67C2FA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-4155"/>
            <a:ext cx="2514948" cy="2174333"/>
            <a:chOff x="-305" y="-4155"/>
            <a:chExt cx="2514948" cy="2174333"/>
          </a:xfrm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A204F55B-358D-4FB5-9979-6724C64154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C4F77C62-9DDF-48D3-A074-159A3276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DEB07022-F30B-49CA-B1DD-A826815C4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F7C47E16-167C-48BF-9FC9-08787D348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00C2D3C8-5D0C-F2D7-C0F3-EC974968D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155"/>
            <a:ext cx="6096000" cy="53492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904575A-8A5F-C2F3-985E-6A24C8D51EFB}"/>
              </a:ext>
            </a:extLst>
          </p:cNvPr>
          <p:cNvSpPr txBox="1"/>
          <p:nvPr/>
        </p:nvSpPr>
        <p:spPr>
          <a:xfrm>
            <a:off x="418289" y="5414969"/>
            <a:ext cx="5259421" cy="137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tx2"/>
                </a:solidFill>
              </a:rPr>
              <a:t>Vykonalo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sa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len</a:t>
            </a:r>
            <a:r>
              <a:rPr lang="en-US" sz="2800" dirty="0">
                <a:solidFill>
                  <a:schemeClr val="tx2"/>
                </a:solidFill>
              </a:rPr>
              <a:t> 30/3040 </a:t>
            </a:r>
            <a:r>
              <a:rPr lang="en-US" sz="2800" dirty="0" err="1">
                <a:solidFill>
                  <a:schemeClr val="tx2"/>
                </a:solidFill>
              </a:rPr>
              <a:t>mutácií</a:t>
            </a:r>
            <a:endParaRPr lang="en-US" sz="2800" dirty="0">
              <a:solidFill>
                <a:schemeClr val="tx2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tx2"/>
                </a:solidFill>
              </a:rPr>
              <a:t>Trvanie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pár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sekúnd</a:t>
            </a:r>
            <a:endParaRPr lang="en-US" sz="2800" dirty="0">
              <a:solidFill>
                <a:schemeClr val="tx2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tx2"/>
                </a:solidFill>
              </a:rPr>
              <a:t>Ináč</a:t>
            </a:r>
            <a:r>
              <a:rPr lang="en-US" sz="2800" dirty="0">
                <a:solidFill>
                  <a:schemeClr val="tx2"/>
                </a:solidFill>
              </a:rPr>
              <a:t> &gt; 5 min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D4887D-640A-BE13-991C-8D2242803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531" y="-4155"/>
            <a:ext cx="6214008" cy="68663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5911F63-9909-8821-59B2-E1FC15259BAE}"/>
              </a:ext>
            </a:extLst>
          </p:cNvPr>
          <p:cNvSpPr txBox="1"/>
          <p:nvPr/>
        </p:nvSpPr>
        <p:spPr>
          <a:xfrm>
            <a:off x="10286999" y="382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Ondrej Babinský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30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2AA56-56A4-8581-061A-0E46AA72B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903"/>
            <a:ext cx="10515600" cy="1325563"/>
          </a:xfrm>
        </p:spPr>
        <p:txBody>
          <a:bodyPr/>
          <a:lstStyle/>
          <a:p>
            <a:r>
              <a:rPr lang="en-US" dirty="0" err="1"/>
              <a:t>Skrytie</a:t>
            </a:r>
            <a:r>
              <a:rPr lang="en-US" dirty="0"/>
              <a:t> „skipped“ </a:t>
            </a:r>
            <a:r>
              <a:rPr lang="en-US" dirty="0" err="1"/>
              <a:t>mutácií</a:t>
            </a:r>
            <a:r>
              <a:rPr lang="en-US" dirty="0"/>
              <a:t> v HTML </a:t>
            </a:r>
            <a:r>
              <a:rPr lang="en-US" dirty="0" err="1"/>
              <a:t>reporte</a:t>
            </a:r>
            <a:endParaRPr lang="en-US" dirty="0"/>
          </a:p>
        </p:txBody>
      </p:sp>
      <p:pic>
        <p:nvPicPr>
          <p:cNvPr id="13" name="Picture 12" descr="A close up of text&#10;&#10;AI-generated content may be incorrect.">
            <a:extLst>
              <a:ext uri="{FF2B5EF4-FFF2-40B4-BE49-F238E27FC236}">
                <a16:creationId xmlns:a16="http://schemas.microsoft.com/office/drawing/2014/main" id="{80F72987-419B-BA54-1C5D-F3A97F245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433" y="5222383"/>
            <a:ext cx="8478466" cy="11392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8CF090A-39A8-80BB-C5CC-A5CFB9975516}"/>
              </a:ext>
            </a:extLst>
          </p:cNvPr>
          <p:cNvSpPr txBox="1"/>
          <p:nvPr/>
        </p:nvSpPr>
        <p:spPr>
          <a:xfrm>
            <a:off x="838200" y="1173437"/>
            <a:ext cx="6667500" cy="14935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k-SK" sz="2400" dirty="0"/>
              <a:t>Množstvo </a:t>
            </a:r>
            <a:r>
              <a:rPr lang="sk-SK" sz="2400" dirty="0" err="1"/>
              <a:t>skipped</a:t>
            </a:r>
            <a:r>
              <a:rPr lang="sk-SK" sz="2400" dirty="0"/>
              <a:t> mutácií v HTML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Pridaný</a:t>
            </a:r>
            <a:r>
              <a:rPr lang="en-US" sz="2400" dirty="0"/>
              <a:t> </a:t>
            </a:r>
            <a:r>
              <a:rPr lang="en-US" sz="2400" dirty="0" err="1"/>
              <a:t>nový</a:t>
            </a:r>
            <a:r>
              <a:rPr lang="en-US" sz="2400" dirty="0"/>
              <a:t> parameter </a:t>
            </a:r>
            <a:r>
              <a:rPr lang="en-US" sz="2400" b="1" dirty="0"/>
              <a:t>--hide-skipped</a:t>
            </a:r>
            <a:r>
              <a:rPr lang="en-US" sz="2400" dirty="0"/>
              <a:t> do </a:t>
            </a:r>
            <a:r>
              <a:rPr lang="en-US" sz="2400" dirty="0" err="1"/>
              <a:t>cr</a:t>
            </a:r>
            <a:r>
              <a:rPr lang="en-US" sz="2400" dirty="0"/>
              <a:t>-html</a:t>
            </a:r>
            <a:endParaRPr lang="sk-SK" sz="2400" dirty="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hlinkClick r:id="rId4"/>
              </a:rPr>
              <a:t>https://github.com/sixty-north/cosmic-ray/pull/573</a:t>
            </a:r>
            <a:r>
              <a:rPr lang="sk-SK" sz="2400" dirty="0"/>
              <a:t> </a:t>
            </a:r>
            <a:endParaRPr lang="en-US" sz="2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F1B9C75-C674-4633-40F1-A125F166A3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5433" y="2680392"/>
            <a:ext cx="9018279" cy="21002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461F42-4138-9553-4D36-FD77CBA68FC5}"/>
              </a:ext>
            </a:extLst>
          </p:cNvPr>
          <p:cNvSpPr txBox="1"/>
          <p:nvPr/>
        </p:nvSpPr>
        <p:spPr>
          <a:xfrm>
            <a:off x="10286999" y="382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Ondrej Babinský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794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18ED9E-25EF-B795-5CB0-BFBA21B3F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79" y="328507"/>
            <a:ext cx="10515600" cy="1325563"/>
          </a:xfrm>
        </p:spPr>
        <p:txBody>
          <a:bodyPr>
            <a:noAutofit/>
          </a:bodyPr>
          <a:lstStyle/>
          <a:p>
            <a:r>
              <a:rPr lang="sk-SK" sz="2400" b="1" dirty="0"/>
              <a:t>Ako</a:t>
            </a:r>
            <a:r>
              <a:rPr lang="sk-SK" sz="2400" dirty="0"/>
              <a:t> používateľ </a:t>
            </a:r>
            <a:br>
              <a:rPr lang="sk-SK" sz="2400" dirty="0"/>
            </a:br>
            <a:r>
              <a:rPr lang="sk-SK" sz="2400" b="1" dirty="0"/>
              <a:t>chcem</a:t>
            </a:r>
            <a:r>
              <a:rPr lang="sk-SK" sz="2400" dirty="0"/>
              <a:t> otestovať vybraný repozitár nástrojom </a:t>
            </a:r>
            <a:r>
              <a:rPr lang="sk-SK" sz="2400" dirty="0" err="1"/>
              <a:t>Cosmic</a:t>
            </a:r>
            <a:r>
              <a:rPr lang="sk-SK" sz="2400" dirty="0"/>
              <a:t> </a:t>
            </a:r>
            <a:r>
              <a:rPr lang="sk-SK" sz="2400" dirty="0" err="1"/>
              <a:t>Ray</a:t>
            </a:r>
            <a:r>
              <a:rPr lang="sk-SK" sz="2400" dirty="0"/>
              <a:t> v izolovanom git </a:t>
            </a:r>
            <a:r>
              <a:rPr lang="sk-SK" sz="2400" dirty="0" err="1"/>
              <a:t>submodule</a:t>
            </a:r>
            <a:r>
              <a:rPr lang="sk-SK" sz="2400" dirty="0"/>
              <a:t>, </a:t>
            </a:r>
            <a:br>
              <a:rPr lang="sk-SK" sz="2400" dirty="0"/>
            </a:br>
            <a:r>
              <a:rPr lang="sk-SK" sz="2400" b="1" dirty="0"/>
              <a:t>aby</a:t>
            </a:r>
            <a:r>
              <a:rPr lang="sk-SK" sz="2400" dirty="0"/>
              <a:t> som mohol bezpečne spúšťať mutačné testy </a:t>
            </a:r>
            <a:br>
              <a:rPr lang="sk-SK" sz="2400" dirty="0"/>
            </a:br>
            <a:r>
              <a:rPr lang="sk-SK" sz="2400" dirty="0"/>
              <a:t>bez zásahu do hlavného projektu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6732AE7-E1A2-D73C-18A2-F6FF13FC3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sk-SK" sz="2000" dirty="0"/>
          </a:p>
        </p:txBody>
      </p:sp>
      <p:pic>
        <p:nvPicPr>
          <p:cNvPr id="8" name="Obrázok 7">
            <a:extLst>
              <a:ext uri="{FF2B5EF4-FFF2-40B4-BE49-F238E27FC236}">
                <a16:creationId xmlns:a16="http://schemas.microsoft.com/office/drawing/2014/main" id="{CF48DFCF-D976-1543-5FA5-A0880F8E4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579" y="1654070"/>
            <a:ext cx="6488266" cy="46944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042489-4CB6-34D1-F6A1-E42F18BAD36A}"/>
              </a:ext>
            </a:extLst>
          </p:cNvPr>
          <p:cNvSpPr txBox="1"/>
          <p:nvPr/>
        </p:nvSpPr>
        <p:spPr>
          <a:xfrm>
            <a:off x="10286999" y="382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Richard Macko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824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036344-C7D3-F9A2-0DDF-0D41C1D73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  <p:pic>
        <p:nvPicPr>
          <p:cNvPr id="5" name="Zástupný objekt pre obsah 4" descr="Obrázok, na ktorom je text, snímka obrazovky, písmo, dokument&#10;&#10;Obsah vygenerovaný pomocou AI môže byť nesprávny.">
            <a:extLst>
              <a:ext uri="{FF2B5EF4-FFF2-40B4-BE49-F238E27FC236}">
                <a16:creationId xmlns:a16="http://schemas.microsoft.com/office/drawing/2014/main" id="{E188CDCC-DBD9-85C0-CB28-AC768F63FE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11" y="108240"/>
            <a:ext cx="5140656" cy="3457214"/>
          </a:xfrm>
        </p:spPr>
      </p:pic>
      <p:pic>
        <p:nvPicPr>
          <p:cNvPr id="9" name="Obrázok 8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745CD70B-973D-1227-F65A-92C04BB5A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808" y="3822339"/>
            <a:ext cx="4779364" cy="2873144"/>
          </a:xfrm>
          <a:prstGeom prst="rect">
            <a:avLst/>
          </a:prstGeom>
        </p:spPr>
      </p:pic>
      <p:pic>
        <p:nvPicPr>
          <p:cNvPr id="11" name="Obrázok 10" descr="Obrázok, na ktorom je text, snímka obrazovky, písmo&#10;&#10;Obsah vygenerovaný pomocou AI môže byť nesprávny.">
            <a:extLst>
              <a:ext uri="{FF2B5EF4-FFF2-40B4-BE49-F238E27FC236}">
                <a16:creationId xmlns:a16="http://schemas.microsoft.com/office/drawing/2014/main" id="{AA135754-EB95-6A1B-8B6F-3854AD1D0A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223" y="4193396"/>
            <a:ext cx="5473572" cy="2426794"/>
          </a:xfrm>
          <a:prstGeom prst="rect">
            <a:avLst/>
          </a:prstGeom>
        </p:spPr>
      </p:pic>
      <p:pic>
        <p:nvPicPr>
          <p:cNvPr id="13" name="Obrázok 12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8AA85B53-DCDB-90D6-7BB2-3329524038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218" y="0"/>
            <a:ext cx="4725582" cy="41019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E407AF-0007-A51A-2228-DF660126C7DE}"/>
              </a:ext>
            </a:extLst>
          </p:cNvPr>
          <p:cNvSpPr txBox="1"/>
          <p:nvPr/>
        </p:nvSpPr>
        <p:spPr>
          <a:xfrm>
            <a:off x="10286999" y="382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Richard Macko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071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993012-BB77-BE66-7033-DC9BE9996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06" y="187541"/>
            <a:ext cx="9087636" cy="974826"/>
          </a:xfrm>
        </p:spPr>
        <p:txBody>
          <a:bodyPr>
            <a:noAutofit/>
          </a:bodyPr>
          <a:lstStyle/>
          <a:p>
            <a:r>
              <a:rPr lang="sk-SK" sz="2800" dirty="0"/>
              <a:t>Limitácia </a:t>
            </a:r>
            <a:r>
              <a:rPr lang="sk-SK" sz="2800" dirty="0" err="1"/>
              <a:t>cosmic</a:t>
            </a:r>
            <a:r>
              <a:rPr lang="sk-SK" sz="2800" dirty="0"/>
              <a:t>-</a:t>
            </a:r>
            <a:r>
              <a:rPr lang="sk-SK" sz="2800" dirty="0" err="1"/>
              <a:t>ray</a:t>
            </a:r>
            <a:r>
              <a:rPr lang="sk-SK" sz="2800" dirty="0"/>
              <a:t>-nezobrazuje kontext chyby (</a:t>
            </a:r>
            <a:r>
              <a:rPr lang="sk-SK" sz="2800" dirty="0" err="1"/>
              <a:t>function_name</a:t>
            </a:r>
            <a:r>
              <a:rPr lang="sk-SK" sz="2800" dirty="0"/>
              <a:t>) - Implementácia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AC127C9-FC92-F758-002D-DACC37870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685" y="1480073"/>
            <a:ext cx="10515600" cy="4351338"/>
          </a:xfrm>
        </p:spPr>
        <p:txBody>
          <a:bodyPr>
            <a:normAutofit/>
          </a:bodyPr>
          <a:lstStyle/>
          <a:p>
            <a:r>
              <a:rPr lang="sk-SK" sz="1800" dirty="0"/>
              <a:t>Ako používateľ,</a:t>
            </a:r>
          </a:p>
          <a:p>
            <a:r>
              <a:rPr lang="pt-BR" sz="1800" dirty="0"/>
              <a:t>Chcem v reporte vidieť názov funkcie</a:t>
            </a:r>
            <a:r>
              <a:rPr lang="sk-SK" sz="1800" dirty="0"/>
              <a:t>,</a:t>
            </a:r>
          </a:p>
          <a:p>
            <a:r>
              <a:rPr lang="sk-SK" sz="1800" dirty="0"/>
              <a:t>aby som získal kontext chyby a vedel rozlíšiť </a:t>
            </a:r>
          </a:p>
          <a:p>
            <a:pPr marL="0" indent="0">
              <a:buNone/>
            </a:pPr>
            <a:r>
              <a:rPr lang="sk-SK" sz="1800" dirty="0"/>
              <a:t>kritickú logiku od triviálneho kódu..</a:t>
            </a:r>
          </a:p>
          <a:p>
            <a:r>
              <a:rPr lang="sk-SK" sz="1800" dirty="0"/>
              <a:t>Súčasný report zobrazuje iba </a:t>
            </a:r>
            <a:r>
              <a:rPr lang="sk-SK" sz="1800" dirty="0" err="1"/>
              <a:t>diff</a:t>
            </a:r>
            <a:r>
              <a:rPr lang="sk-SK" sz="1800" dirty="0"/>
              <a:t> a číslo riadku.</a:t>
            </a:r>
          </a:p>
          <a:p>
            <a:r>
              <a:rPr lang="sk-SK" sz="1800" dirty="0"/>
              <a:t>Samotné súradnice neposkytujú informáciu o </a:t>
            </a:r>
          </a:p>
          <a:p>
            <a:pPr marL="0" indent="0">
              <a:buNone/>
            </a:pPr>
            <a:r>
              <a:rPr lang="sk-SK" sz="1800" dirty="0"/>
              <a:t>význame kódu.</a:t>
            </a:r>
          </a:p>
        </p:txBody>
      </p:sp>
      <p:pic>
        <p:nvPicPr>
          <p:cNvPr id="11" name="Obrázok 10">
            <a:extLst>
              <a:ext uri="{FF2B5EF4-FFF2-40B4-BE49-F238E27FC236}">
                <a16:creationId xmlns:a16="http://schemas.microsoft.com/office/drawing/2014/main" id="{8A5EF1A9-526E-52FE-634B-923559526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406" y="538968"/>
            <a:ext cx="4727082" cy="39820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Písanie rukou 16">
                <a:extLst>
                  <a:ext uri="{FF2B5EF4-FFF2-40B4-BE49-F238E27FC236}">
                    <a16:creationId xmlns:a16="http://schemas.microsoft.com/office/drawing/2014/main" id="{6E0E88AE-5F90-A837-80D6-4DF93CE3BEC9}"/>
                  </a:ext>
                </a:extLst>
              </p14:cNvPr>
              <p14:cNvContentPartPr/>
              <p14:nvPr/>
            </p14:nvContentPartPr>
            <p14:xfrm>
              <a:off x="7287465" y="1941596"/>
              <a:ext cx="4544850" cy="712524"/>
            </p14:xfrm>
          </p:contentPart>
        </mc:Choice>
        <mc:Fallback xmlns="">
          <p:pic>
            <p:nvPicPr>
              <p:cNvPr id="17" name="Písanie rukou 16">
                <a:extLst>
                  <a:ext uri="{FF2B5EF4-FFF2-40B4-BE49-F238E27FC236}">
                    <a16:creationId xmlns:a16="http://schemas.microsoft.com/office/drawing/2014/main" id="{6E0E88AE-5F90-A837-80D6-4DF93CE3BE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81345" y="1935475"/>
                <a:ext cx="4557090" cy="724765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Obrázok 3">
            <a:extLst>
              <a:ext uri="{FF2B5EF4-FFF2-40B4-BE49-F238E27FC236}">
                <a16:creationId xmlns:a16="http://schemas.microsoft.com/office/drawing/2014/main" id="{07D6095F-5F8C-1FC4-ACC2-0527B0AC01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727" y="4008903"/>
            <a:ext cx="6933738" cy="27380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77B5DC-3819-EE0F-17EE-B2F5436C6CF2}"/>
              </a:ext>
            </a:extLst>
          </p:cNvPr>
          <p:cNvSpPr txBox="1"/>
          <p:nvPr/>
        </p:nvSpPr>
        <p:spPr>
          <a:xfrm>
            <a:off x="10286999" y="382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Richard Macko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558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9AB6EC-29C2-6DBA-AE60-6DFAF8AE6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48" y="386594"/>
            <a:ext cx="10515600" cy="1325563"/>
          </a:xfrm>
        </p:spPr>
        <p:txBody>
          <a:bodyPr>
            <a:normAutofit/>
          </a:bodyPr>
          <a:lstStyle/>
          <a:p>
            <a:r>
              <a:rPr lang="sk-SK" sz="3200" dirty="0"/>
              <a:t>1. Prístup – Externý skript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7CAB8AB-B938-85F4-8F51-F3626A81E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248" y="164071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sz="1800" dirty="0"/>
              <a:t>- Efektivita: Opakovaná analýza</a:t>
            </a:r>
          </a:p>
          <a:p>
            <a:pPr marL="0" indent="0">
              <a:buNone/>
            </a:pPr>
            <a:r>
              <a:rPr lang="pl-PL" sz="1800" dirty="0"/>
              <a:t>- Názvy funkcií by boli mimo hlavnej databázy</a:t>
            </a:r>
            <a:endParaRPr lang="pl-PL" sz="2000" dirty="0"/>
          </a:p>
          <a:p>
            <a:pPr marL="0" indent="0">
              <a:buNone/>
            </a:pPr>
            <a:r>
              <a:rPr lang="sk-SK" dirty="0"/>
              <a:t>2. Prístup – Úprava jadra</a:t>
            </a:r>
          </a:p>
          <a:p>
            <a:r>
              <a:rPr lang="pt-BR" sz="1800" dirty="0"/>
              <a:t>Rozšírenie dátového modelu o nový parameter.</a:t>
            </a:r>
            <a:endParaRPr lang="sk-SK" sz="1800" dirty="0"/>
          </a:p>
          <a:p>
            <a:r>
              <a:rPr lang="sk-SK" sz="1800" dirty="0"/>
              <a:t>Výsledok: Dáta v jednej databáze</a:t>
            </a:r>
          </a:p>
          <a:p>
            <a:endParaRPr lang="sk-SK" sz="2400" dirty="0"/>
          </a:p>
          <a:p>
            <a:endParaRPr lang="sk-SK" sz="2400" dirty="0"/>
          </a:p>
          <a:p>
            <a:endParaRPr lang="sk-SK" sz="2400" dirty="0"/>
          </a:p>
          <a:p>
            <a:endParaRPr lang="pl-PL" sz="2000" dirty="0"/>
          </a:p>
        </p:txBody>
      </p:sp>
      <p:pic>
        <p:nvPicPr>
          <p:cNvPr id="4" name="Obrázok 3" descr="Obrázok, na ktorom je text, snímka obrazovky, písmo, biely&#10;&#10;Obsah vygenerovaný pomocou AI môže byť nesprávny.">
            <a:extLst>
              <a:ext uri="{FF2B5EF4-FFF2-40B4-BE49-F238E27FC236}">
                <a16:creationId xmlns:a16="http://schemas.microsoft.com/office/drawing/2014/main" id="{24E9F21A-117C-89FA-40FF-9A4D27B79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139868"/>
            <a:ext cx="6343998" cy="1819014"/>
          </a:xfrm>
          <a:prstGeom prst="rect">
            <a:avLst/>
          </a:prstGeom>
        </p:spPr>
      </p:pic>
      <p:pic>
        <p:nvPicPr>
          <p:cNvPr id="5" name="Obrázok 4">
            <a:extLst>
              <a:ext uri="{FF2B5EF4-FFF2-40B4-BE49-F238E27FC236}">
                <a16:creationId xmlns:a16="http://schemas.microsoft.com/office/drawing/2014/main" id="{7A25C3CB-42A6-9B04-9D8B-F55869F3A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966" y="2374424"/>
            <a:ext cx="6999034" cy="1677154"/>
          </a:xfrm>
          <a:prstGeom prst="rect">
            <a:avLst/>
          </a:prstGeom>
        </p:spPr>
      </p:pic>
      <p:pic>
        <p:nvPicPr>
          <p:cNvPr id="6" name="Obrázok 5">
            <a:extLst>
              <a:ext uri="{FF2B5EF4-FFF2-40B4-BE49-F238E27FC236}">
                <a16:creationId xmlns:a16="http://schemas.microsoft.com/office/drawing/2014/main" id="{39D86EA1-0B2C-5D84-16B6-6D92D71A1F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80" y="4628642"/>
            <a:ext cx="6910096" cy="2025676"/>
          </a:xfrm>
          <a:prstGeom prst="rect">
            <a:avLst/>
          </a:prstGeom>
        </p:spPr>
      </p:pic>
      <p:pic>
        <p:nvPicPr>
          <p:cNvPr id="8" name="Picture 6" descr="Green Plus Smaller - Green Add Icon, HD Png Download - 1787x1578(#6264463)  - PngFind">
            <a:extLst>
              <a:ext uri="{FF2B5EF4-FFF2-40B4-BE49-F238E27FC236}">
                <a16:creationId xmlns:a16="http://schemas.microsoft.com/office/drawing/2014/main" id="{54F54D03-4359-F90D-E214-63CDCEBA7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843" y="5171069"/>
            <a:ext cx="104504" cy="92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Green Plus Smaller - Green Add Icon, HD Png Download - 1787x1578(#6264463)  - PngFind">
            <a:extLst>
              <a:ext uri="{FF2B5EF4-FFF2-40B4-BE49-F238E27FC236}">
                <a16:creationId xmlns:a16="http://schemas.microsoft.com/office/drawing/2014/main" id="{AA12E6F2-3902-6A97-416D-DC875C9FA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765" y="6133248"/>
            <a:ext cx="104504" cy="92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9E9B28-8809-98C0-B54D-7500012B8DE4}"/>
              </a:ext>
            </a:extLst>
          </p:cNvPr>
          <p:cNvSpPr txBox="1"/>
          <p:nvPr/>
        </p:nvSpPr>
        <p:spPr>
          <a:xfrm>
            <a:off x="10286999" y="382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Richard Macko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077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9410B3E-CF6E-829B-1BF1-447AAD826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3600" dirty="0"/>
              <a:t>Rozšírená databáza + HTML report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091AA82-4929-0636-CB83-3B223B6D2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0953"/>
            <a:ext cx="10515600" cy="4351338"/>
          </a:xfrm>
        </p:spPr>
        <p:txBody>
          <a:bodyPr>
            <a:normAutofit/>
          </a:bodyPr>
          <a:lstStyle/>
          <a:p>
            <a:r>
              <a:rPr lang="sk-SK" sz="1800" dirty="0" err="1"/>
              <a:t>function_name</a:t>
            </a:r>
            <a:r>
              <a:rPr lang="sk-SK" sz="1800" dirty="0"/>
              <a:t> v databáze a reporte</a:t>
            </a: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630F9780-D507-8FDE-4046-28C1503CF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95" y="2389533"/>
            <a:ext cx="7471954" cy="40604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Písanie rukou 19">
                <a:extLst>
                  <a:ext uri="{FF2B5EF4-FFF2-40B4-BE49-F238E27FC236}">
                    <a16:creationId xmlns:a16="http://schemas.microsoft.com/office/drawing/2014/main" id="{7B48FBCB-01AF-6342-ED8C-954D356EFA28}"/>
                  </a:ext>
                </a:extLst>
              </p14:cNvPr>
              <p14:cNvContentPartPr/>
              <p14:nvPr/>
            </p14:nvContentPartPr>
            <p14:xfrm>
              <a:off x="5604599" y="2543970"/>
              <a:ext cx="1179378" cy="3948905"/>
            </p14:xfrm>
          </p:contentPart>
        </mc:Choice>
        <mc:Fallback xmlns="">
          <p:pic>
            <p:nvPicPr>
              <p:cNvPr id="20" name="Písanie rukou 19">
                <a:extLst>
                  <a:ext uri="{FF2B5EF4-FFF2-40B4-BE49-F238E27FC236}">
                    <a16:creationId xmlns:a16="http://schemas.microsoft.com/office/drawing/2014/main" id="{7B48FBCB-01AF-6342-ED8C-954D356EFA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98477" y="2537850"/>
                <a:ext cx="1191622" cy="3961144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Obrázok 3">
            <a:extLst>
              <a:ext uri="{FF2B5EF4-FFF2-40B4-BE49-F238E27FC236}">
                <a16:creationId xmlns:a16="http://schemas.microsoft.com/office/drawing/2014/main" id="{E3826AC8-E35A-9377-6C98-E4FAF688C5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1776" y="344508"/>
            <a:ext cx="4670224" cy="439892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Písanie rukou 5">
                <a:extLst>
                  <a:ext uri="{FF2B5EF4-FFF2-40B4-BE49-F238E27FC236}">
                    <a16:creationId xmlns:a16="http://schemas.microsoft.com/office/drawing/2014/main" id="{367BDD87-FE42-46AA-F85C-03954C7FB787}"/>
                  </a:ext>
                </a:extLst>
              </p14:cNvPr>
              <p14:cNvContentPartPr/>
              <p14:nvPr/>
            </p14:nvContentPartPr>
            <p14:xfrm>
              <a:off x="10078256" y="2423712"/>
              <a:ext cx="2013343" cy="240516"/>
            </p14:xfrm>
          </p:contentPart>
        </mc:Choice>
        <mc:Fallback xmlns="">
          <p:pic>
            <p:nvPicPr>
              <p:cNvPr id="6" name="Písanie rukou 5">
                <a:extLst>
                  <a:ext uri="{FF2B5EF4-FFF2-40B4-BE49-F238E27FC236}">
                    <a16:creationId xmlns:a16="http://schemas.microsoft.com/office/drawing/2014/main" id="{367BDD87-FE42-46AA-F85C-03954C7FB78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072138" y="2417591"/>
                <a:ext cx="2025580" cy="252758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003F50E-C559-1C28-7BE4-D6B6D280F4DA}"/>
              </a:ext>
            </a:extLst>
          </p:cNvPr>
          <p:cNvSpPr txBox="1"/>
          <p:nvPr/>
        </p:nvSpPr>
        <p:spPr>
          <a:xfrm>
            <a:off x="10286999" y="382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Richard Macko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836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766416-21A6-D703-BF2A-AB62097E7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3600" dirty="0"/>
              <a:t>Distribúcia a Automatizácia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5302B9F-2B87-8E78-05F7-A3467AC19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593" y="1522472"/>
            <a:ext cx="10515600" cy="5096041"/>
          </a:xfrm>
        </p:spPr>
        <p:txBody>
          <a:bodyPr>
            <a:normAutofit fontScale="92500" lnSpcReduction="10000"/>
          </a:bodyPr>
          <a:lstStyle/>
          <a:p>
            <a:r>
              <a:rPr lang="sk-SK" sz="1800" dirty="0"/>
              <a:t>Priama inštalácia</a:t>
            </a:r>
            <a:r>
              <a:rPr lang="sk-SK" sz="1800" b="1" dirty="0"/>
              <a:t>:</a:t>
            </a:r>
            <a:r>
              <a:rPr lang="sk-SK" sz="1800" dirty="0"/>
              <a:t> Využitie </a:t>
            </a:r>
            <a:r>
              <a:rPr lang="sk-SK" sz="1800" dirty="0" err="1"/>
              <a:t>git+https</a:t>
            </a:r>
            <a:endParaRPr lang="sk-SK" sz="1800" dirty="0"/>
          </a:p>
          <a:p>
            <a:r>
              <a:rPr lang="sk-SK" sz="1800" dirty="0"/>
              <a:t>Plná automatizácia pre </a:t>
            </a:r>
            <a:r>
              <a:rPr lang="sk-SK" sz="1800" dirty="0" err="1"/>
              <a:t>RooCode</a:t>
            </a:r>
            <a:r>
              <a:rPr lang="sk-SK" sz="1800" dirty="0"/>
              <a:t>    </a:t>
            </a:r>
          </a:p>
          <a:p>
            <a:endParaRPr lang="sk-SK" sz="1800" dirty="0"/>
          </a:p>
          <a:p>
            <a:endParaRPr lang="sk-SK" sz="1800" dirty="0"/>
          </a:p>
          <a:p>
            <a:endParaRPr lang="sk-SK" sz="1800" dirty="0"/>
          </a:p>
          <a:p>
            <a:endParaRPr lang="sk-SK" sz="1800" dirty="0"/>
          </a:p>
          <a:p>
            <a:endParaRPr lang="sk-SK" sz="1800" dirty="0"/>
          </a:p>
          <a:p>
            <a:endParaRPr lang="sk-SK" sz="1800" dirty="0"/>
          </a:p>
          <a:p>
            <a:endParaRPr lang="sk-SK" sz="1800" dirty="0"/>
          </a:p>
          <a:p>
            <a:endParaRPr lang="sk-SK" sz="1800" dirty="0"/>
          </a:p>
          <a:p>
            <a:endParaRPr lang="sk-SK" sz="1800" dirty="0"/>
          </a:p>
          <a:p>
            <a:endParaRPr lang="sk-SK" sz="1800" dirty="0"/>
          </a:p>
          <a:p>
            <a:pPr marL="0" indent="0">
              <a:buNone/>
            </a:pPr>
            <a:r>
              <a:rPr lang="sk-SK" sz="1800" b="1" dirty="0" err="1"/>
              <a:t>Contributions</a:t>
            </a:r>
            <a:r>
              <a:rPr lang="sk-SK" sz="1800" dirty="0"/>
              <a:t>:</a:t>
            </a:r>
          </a:p>
          <a:p>
            <a:r>
              <a:rPr lang="sk-SK" sz="1800" dirty="0" err="1"/>
              <a:t>Public</a:t>
            </a:r>
            <a:r>
              <a:rPr lang="sk-SK" sz="1800" dirty="0"/>
              <a:t> </a:t>
            </a:r>
            <a:r>
              <a:rPr lang="sk-SK" sz="1800" dirty="0" err="1"/>
              <a:t>Fork</a:t>
            </a:r>
            <a:r>
              <a:rPr lang="sk-SK" sz="1800" dirty="0"/>
              <a:t>: </a:t>
            </a:r>
            <a:r>
              <a:rPr lang="sk-SK" sz="1800" dirty="0">
                <a:hlinkClick r:id="rId3"/>
              </a:rPr>
              <a:t>https://github.com/RichardMacko/cosmic-ray</a:t>
            </a:r>
            <a:r>
              <a:rPr lang="sk-SK" sz="1800" dirty="0"/>
              <a:t>  </a:t>
            </a:r>
          </a:p>
          <a:p>
            <a:r>
              <a:rPr lang="sk-SK" sz="1800" dirty="0" err="1"/>
              <a:t>Pull</a:t>
            </a:r>
            <a:r>
              <a:rPr lang="sk-SK" sz="1800" dirty="0"/>
              <a:t> </a:t>
            </a:r>
            <a:r>
              <a:rPr lang="sk-SK" sz="1800" dirty="0" err="1"/>
              <a:t>request</a:t>
            </a:r>
            <a:r>
              <a:rPr lang="sk-SK" sz="1800" dirty="0"/>
              <a:t>: </a:t>
            </a:r>
            <a:r>
              <a:rPr lang="sk-SK" sz="1800" dirty="0">
                <a:hlinkClick r:id="rId4"/>
              </a:rPr>
              <a:t>https://github.com/sixty-north/cosmic-ray/pull/577</a:t>
            </a:r>
            <a:r>
              <a:rPr lang="sk-SK" sz="1800" dirty="0"/>
              <a:t>       </a:t>
            </a:r>
          </a:p>
          <a:p>
            <a:endParaRPr lang="sk-SK" sz="1800" dirty="0"/>
          </a:p>
          <a:p>
            <a:endParaRPr lang="sk-SK" sz="1800" dirty="0"/>
          </a:p>
          <a:p>
            <a:endParaRPr lang="sk-SK" sz="1800" dirty="0"/>
          </a:p>
          <a:p>
            <a:endParaRPr lang="sk-SK" sz="1800" dirty="0"/>
          </a:p>
          <a:p>
            <a:endParaRPr lang="sk-SK" sz="1800" dirty="0"/>
          </a:p>
          <a:p>
            <a:endParaRPr lang="sk-SK" sz="1800" dirty="0"/>
          </a:p>
          <a:p>
            <a:endParaRPr lang="sk-SK" sz="1800" dirty="0"/>
          </a:p>
          <a:p>
            <a:endParaRPr lang="sk-SK" sz="1800" dirty="0"/>
          </a:p>
          <a:p>
            <a:endParaRPr lang="sk-SK" sz="1800" dirty="0"/>
          </a:p>
          <a:p>
            <a:endParaRPr lang="sk-SK" sz="1800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00E49D4E-DB00-AC6F-95BF-9CA8280BF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145" y="4479121"/>
            <a:ext cx="4607860" cy="1353482"/>
          </a:xfrm>
          <a:prstGeom prst="rect">
            <a:avLst/>
          </a:prstGeom>
        </p:spPr>
      </p:pic>
      <p:pic>
        <p:nvPicPr>
          <p:cNvPr id="10" name="Obrázok 9">
            <a:extLst>
              <a:ext uri="{FF2B5EF4-FFF2-40B4-BE49-F238E27FC236}">
                <a16:creationId xmlns:a16="http://schemas.microsoft.com/office/drawing/2014/main" id="{EF501B43-D4BB-D36A-D8EF-51EF38F2E3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145" y="1134405"/>
            <a:ext cx="4659008" cy="1117886"/>
          </a:xfrm>
          <a:prstGeom prst="rect">
            <a:avLst/>
          </a:prstGeom>
        </p:spPr>
      </p:pic>
      <p:pic>
        <p:nvPicPr>
          <p:cNvPr id="14" name="Obrázok 13">
            <a:extLst>
              <a:ext uri="{FF2B5EF4-FFF2-40B4-BE49-F238E27FC236}">
                <a16:creationId xmlns:a16="http://schemas.microsoft.com/office/drawing/2014/main" id="{613D5BF4-2504-5135-A772-CA7DD918AE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145" y="3306849"/>
            <a:ext cx="4652450" cy="1172272"/>
          </a:xfrm>
          <a:prstGeom prst="rect">
            <a:avLst/>
          </a:prstGeom>
        </p:spPr>
      </p:pic>
      <p:pic>
        <p:nvPicPr>
          <p:cNvPr id="16" name="Obrázok 15">
            <a:extLst>
              <a:ext uri="{FF2B5EF4-FFF2-40B4-BE49-F238E27FC236}">
                <a16:creationId xmlns:a16="http://schemas.microsoft.com/office/drawing/2014/main" id="{D315A2EB-31FA-BE8A-8FED-8454B179BA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5126" y="78358"/>
            <a:ext cx="4709668" cy="1157348"/>
          </a:xfrm>
          <a:prstGeom prst="rect">
            <a:avLst/>
          </a:prstGeom>
        </p:spPr>
      </p:pic>
      <p:pic>
        <p:nvPicPr>
          <p:cNvPr id="18" name="Obrázok 17">
            <a:extLst>
              <a:ext uri="{FF2B5EF4-FFF2-40B4-BE49-F238E27FC236}">
                <a16:creationId xmlns:a16="http://schemas.microsoft.com/office/drawing/2014/main" id="{8A067D65-9AFC-3798-B1A5-F795906A83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145" y="2236857"/>
            <a:ext cx="4652450" cy="1100268"/>
          </a:xfrm>
          <a:prstGeom prst="rect">
            <a:avLst/>
          </a:prstGeom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32332FC2-806B-35EA-4787-0868F79707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800" y="2236857"/>
            <a:ext cx="3965766" cy="31841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4D00F4-D325-7DDB-C5A0-4AB582F40646}"/>
              </a:ext>
            </a:extLst>
          </p:cNvPr>
          <p:cNvSpPr txBox="1"/>
          <p:nvPr/>
        </p:nvSpPr>
        <p:spPr>
          <a:xfrm>
            <a:off x="10286999" y="382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Richard Macko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581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57A889-FA42-F25C-91E9-3AAFE7CB7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User </a:t>
            </a:r>
            <a:r>
              <a:rPr lang="sk-SK" dirty="0" err="1"/>
              <a:t>stories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8EDB685-CC69-1F10-F1E6-4F9217B39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Chcem</a:t>
            </a:r>
            <a:r>
              <a:rPr lang="en-US" dirty="0"/>
              <a:t> </a:t>
            </a:r>
            <a:r>
              <a:rPr lang="en-US" dirty="0" err="1"/>
              <a:t>integrovať</a:t>
            </a:r>
            <a:r>
              <a:rPr lang="en-US" dirty="0"/>
              <a:t> </a:t>
            </a:r>
            <a:r>
              <a:rPr lang="sk-SK" dirty="0" err="1"/>
              <a:t>custom</a:t>
            </a:r>
            <a:r>
              <a:rPr lang="en-US" dirty="0"/>
              <a:t> </a:t>
            </a:r>
            <a:r>
              <a:rPr lang="en-US" dirty="0" err="1"/>
              <a:t>mutátory</a:t>
            </a:r>
            <a:r>
              <a:rPr lang="en-US" dirty="0"/>
              <a:t>, aby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overil</a:t>
            </a:r>
            <a:r>
              <a:rPr lang="en-US" dirty="0"/>
              <a:t>, </a:t>
            </a:r>
            <a:r>
              <a:rPr lang="en-US" dirty="0" err="1"/>
              <a:t>či</a:t>
            </a:r>
            <a:r>
              <a:rPr lang="en-US" dirty="0"/>
              <a:t> testy </a:t>
            </a:r>
            <a:r>
              <a:rPr lang="en-US" dirty="0" err="1"/>
              <a:t>detegujú</a:t>
            </a:r>
            <a:r>
              <a:rPr lang="en-US" dirty="0"/>
              <a:t> </a:t>
            </a:r>
            <a:r>
              <a:rPr lang="en-US" dirty="0" err="1"/>
              <a:t>mutácie</a:t>
            </a:r>
            <a:r>
              <a:rPr lang="en-US" dirty="0"/>
              <a:t> </a:t>
            </a:r>
            <a:r>
              <a:rPr lang="en-US" dirty="0" err="1"/>
              <a:t>kódu</a:t>
            </a:r>
            <a:r>
              <a:rPr lang="en-US" dirty="0"/>
              <a:t> </a:t>
            </a:r>
            <a:r>
              <a:rPr lang="en-US" dirty="0" err="1"/>
              <a:t>špecifické</a:t>
            </a:r>
            <a:r>
              <a:rPr lang="en-US" dirty="0"/>
              <a:t> pre </a:t>
            </a:r>
            <a:r>
              <a:rPr lang="en-US" dirty="0" err="1"/>
              <a:t>doménu</a:t>
            </a:r>
            <a:r>
              <a:rPr lang="en-US" dirty="0"/>
              <a:t> a </a:t>
            </a:r>
            <a:r>
              <a:rPr lang="en-US" dirty="0" err="1"/>
              <a:t>atypické</a:t>
            </a:r>
            <a:r>
              <a:rPr lang="en-US" dirty="0"/>
              <a:t> </a:t>
            </a:r>
            <a:r>
              <a:rPr lang="en-US" dirty="0" err="1"/>
              <a:t>mutácie</a:t>
            </a:r>
            <a:r>
              <a:rPr lang="en-US" dirty="0"/>
              <a:t> </a:t>
            </a:r>
            <a:r>
              <a:rPr lang="en-US" dirty="0" err="1"/>
              <a:t>kódu</a:t>
            </a:r>
            <a:r>
              <a:rPr lang="en-US" dirty="0"/>
              <a:t>.</a:t>
            </a:r>
            <a:endParaRPr lang="sk-SK" dirty="0"/>
          </a:p>
          <a:p>
            <a:r>
              <a:rPr lang="sk-SK" dirty="0"/>
              <a:t>Pretože:</a:t>
            </a:r>
          </a:p>
          <a:p>
            <a:r>
              <a:rPr lang="sk-SK" dirty="0"/>
              <a:t>Štandardná </a:t>
            </a:r>
            <a:r>
              <a:rPr lang="sk-SK" dirty="0" err="1"/>
              <a:t>sada</a:t>
            </a:r>
            <a:r>
              <a:rPr lang="sk-SK" dirty="0"/>
              <a:t> mutácií pozostáva z </a:t>
            </a:r>
            <a:r>
              <a:rPr lang="sk-SK" dirty="0" err="1"/>
              <a:t>mutátorov</a:t>
            </a:r>
            <a:r>
              <a:rPr lang="sk-SK" dirty="0"/>
              <a:t>, ako napríklad: nahradenie znamienka, premennej, ...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15F179-28E5-2775-7D42-E1A6905245A0}"/>
              </a:ext>
            </a:extLst>
          </p:cNvPr>
          <p:cNvSpPr txBox="1"/>
          <p:nvPr/>
        </p:nvSpPr>
        <p:spPr>
          <a:xfrm>
            <a:off x="10286999" y="382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Matúš Ratkovský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56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8830FC-931A-EA1B-E60A-B0A981AC9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Implementované </a:t>
            </a:r>
            <a:r>
              <a:rPr lang="sk-SK" dirty="0" err="1"/>
              <a:t>custom</a:t>
            </a:r>
            <a:r>
              <a:rPr lang="sk-SK" dirty="0"/>
              <a:t> </a:t>
            </a:r>
            <a:r>
              <a:rPr lang="sk-SK" dirty="0" err="1"/>
              <a:t>mutátory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F51E482-7D30-D172-2639-C4651231A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 err="1"/>
              <a:t>Tuple</a:t>
            </a:r>
            <a:r>
              <a:rPr lang="sk-SK" dirty="0"/>
              <a:t> to </a:t>
            </a:r>
            <a:r>
              <a:rPr lang="sk-SK" dirty="0" err="1"/>
              <a:t>object</a:t>
            </a:r>
            <a:endParaRPr lang="sk-SK" dirty="0"/>
          </a:p>
          <a:p>
            <a:r>
              <a:rPr lang="sk-SK" dirty="0" err="1"/>
              <a:t>Object</a:t>
            </a:r>
            <a:r>
              <a:rPr lang="sk-SK" dirty="0"/>
              <a:t> to </a:t>
            </a:r>
            <a:r>
              <a:rPr lang="sk-SK" dirty="0" err="1"/>
              <a:t>tuple</a:t>
            </a:r>
            <a:endParaRPr lang="sk-SK" dirty="0"/>
          </a:p>
          <a:p>
            <a:r>
              <a:rPr lang="sk-SK" dirty="0" err="1"/>
              <a:t>Tuple</a:t>
            </a:r>
            <a:r>
              <a:rPr lang="sk-SK" dirty="0"/>
              <a:t> </a:t>
            </a:r>
            <a:r>
              <a:rPr lang="sk-SK" dirty="0" err="1"/>
              <a:t>shortener</a:t>
            </a:r>
            <a:endParaRPr lang="sk-SK" dirty="0"/>
          </a:p>
          <a:p>
            <a:r>
              <a:rPr lang="sk-SK" dirty="0" err="1"/>
              <a:t>Shuffle</a:t>
            </a:r>
            <a:r>
              <a:rPr lang="sk-SK" dirty="0"/>
              <a:t> </a:t>
            </a:r>
            <a:r>
              <a:rPr lang="sk-SK" dirty="0" err="1"/>
              <a:t>tuple</a:t>
            </a:r>
            <a:endParaRPr lang="sk-SK" dirty="0"/>
          </a:p>
          <a:p>
            <a:r>
              <a:rPr lang="sk-SK" dirty="0"/>
              <a:t>Na základe týchto implementácií by sme mohli vytvoriť podobné </a:t>
            </a:r>
            <a:r>
              <a:rPr lang="sk-SK" dirty="0" err="1"/>
              <a:t>custom</a:t>
            </a:r>
            <a:r>
              <a:rPr lang="sk-SK" dirty="0"/>
              <a:t> </a:t>
            </a:r>
            <a:r>
              <a:rPr lang="sk-SK" dirty="0" err="1"/>
              <a:t>mutátory</a:t>
            </a:r>
            <a:r>
              <a:rPr lang="sk-SK" dirty="0"/>
              <a:t>, ako napríklad: </a:t>
            </a:r>
            <a:r>
              <a:rPr lang="sk-SK" dirty="0" err="1"/>
              <a:t>tuple</a:t>
            </a:r>
            <a:r>
              <a:rPr lang="sk-SK" dirty="0"/>
              <a:t> </a:t>
            </a:r>
            <a:r>
              <a:rPr lang="sk-SK" dirty="0" err="1"/>
              <a:t>lengthener</a:t>
            </a:r>
            <a:r>
              <a:rPr lang="sk-SK" dirty="0"/>
              <a:t>, </a:t>
            </a:r>
            <a:r>
              <a:rPr lang="sk-SK" dirty="0" err="1"/>
              <a:t>tuple</a:t>
            </a:r>
            <a:r>
              <a:rPr lang="sk-SK" dirty="0"/>
              <a:t> to list, list to </a:t>
            </a:r>
            <a:r>
              <a:rPr lang="sk-SK" dirty="0" err="1"/>
              <a:t>tuple</a:t>
            </a:r>
            <a:r>
              <a:rPr lang="sk-SK" dirty="0"/>
              <a:t>, ...</a:t>
            </a:r>
          </a:p>
          <a:p>
            <a:endParaRPr lang="sk-S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A8A22-30D7-486D-5275-86A90E62DB10}"/>
              </a:ext>
            </a:extLst>
          </p:cNvPr>
          <p:cNvSpPr txBox="1"/>
          <p:nvPr/>
        </p:nvSpPr>
        <p:spPr>
          <a:xfrm>
            <a:off x="10286999" y="382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Matúš Ratkovský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147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3701FF-EBA1-8FD5-F7A7-07150B789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Výhody </a:t>
            </a:r>
            <a:r>
              <a:rPr lang="sk-SK" dirty="0" err="1"/>
              <a:t>custom</a:t>
            </a:r>
            <a:r>
              <a:rPr lang="sk-SK" dirty="0"/>
              <a:t> </a:t>
            </a:r>
            <a:r>
              <a:rPr lang="sk-SK" dirty="0" err="1"/>
              <a:t>mutátorov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108B5ED-E05B-A8E9-1739-923B0E7EF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Počas </a:t>
            </a:r>
            <a:r>
              <a:rPr lang="sk-SK" dirty="0" err="1"/>
              <a:t>refaktoringu</a:t>
            </a:r>
            <a:r>
              <a:rPr lang="sk-SK" dirty="0"/>
              <a:t> môže programátor urobiť chybu alebo nemusí potrebovať všetky hodnoty z </a:t>
            </a:r>
            <a:r>
              <a:rPr lang="sk-SK" dirty="0" err="1"/>
              <a:t>tuple</a:t>
            </a:r>
            <a:r>
              <a:rPr lang="sk-SK" dirty="0"/>
              <a:t>.</a:t>
            </a:r>
          </a:p>
          <a:p>
            <a:r>
              <a:rPr lang="sk-SK" dirty="0"/>
              <a:t>Tieto </a:t>
            </a:r>
            <a:r>
              <a:rPr lang="sk-SK" dirty="0" err="1"/>
              <a:t>custom</a:t>
            </a:r>
            <a:r>
              <a:rPr lang="sk-SK" dirty="0"/>
              <a:t> </a:t>
            </a:r>
            <a:r>
              <a:rPr lang="sk-SK" dirty="0" err="1"/>
              <a:t>mutátory</a:t>
            </a:r>
            <a:r>
              <a:rPr lang="sk-SK" dirty="0"/>
              <a:t> kontrolujú, či testy pokrývajú dôležité situácie.</a:t>
            </a:r>
          </a:p>
          <a:p>
            <a:endParaRPr lang="sk-S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43849-449E-9829-1F1E-F345460C1F7D}"/>
              </a:ext>
            </a:extLst>
          </p:cNvPr>
          <p:cNvSpPr txBox="1"/>
          <p:nvPr/>
        </p:nvSpPr>
        <p:spPr>
          <a:xfrm>
            <a:off x="10286999" y="382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Matúš Ratkovský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788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ok 4" descr="Obrázok, na ktorom je text, snímka obrazovky, písmo&#10;&#10;Obsah vygenerovaný pomocou AI môže byť nesprávny.">
            <a:extLst>
              <a:ext uri="{FF2B5EF4-FFF2-40B4-BE49-F238E27FC236}">
                <a16:creationId xmlns:a16="http://schemas.microsoft.com/office/drawing/2014/main" id="{388CD876-5557-66FD-FC26-236F8E6CA56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52" y="0"/>
            <a:ext cx="9589895" cy="6858000"/>
          </a:xfrm>
          <a:prstGeom prst="rect">
            <a:avLst/>
          </a:prstGeom>
        </p:spPr>
      </p:pic>
      <p:sp>
        <p:nvSpPr>
          <p:cNvPr id="2" name="Obdĺžnik 1">
            <a:extLst>
              <a:ext uri="{FF2B5EF4-FFF2-40B4-BE49-F238E27FC236}">
                <a16:creationId xmlns:a16="http://schemas.microsoft.com/office/drawing/2014/main" id="{DF9A1C19-DBEA-DCFE-48A2-36AFA4A6DC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03704" y="512064"/>
            <a:ext cx="521208" cy="256032"/>
          </a:xfrm>
          <a:prstGeom prst="rect">
            <a:avLst/>
          </a:prstGeom>
          <a:solidFill>
            <a:schemeClr val="lt1">
              <a:alpha val="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k-SK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3" name="Obdĺžnik 2">
            <a:extLst>
              <a:ext uri="{FF2B5EF4-FFF2-40B4-BE49-F238E27FC236}">
                <a16:creationId xmlns:a16="http://schemas.microsoft.com/office/drawing/2014/main" id="{2D2D0FFB-6CF3-0F48-FFF3-8CF8B49818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55164" y="4523232"/>
            <a:ext cx="608076" cy="256032"/>
          </a:xfrm>
          <a:prstGeom prst="rect">
            <a:avLst/>
          </a:prstGeom>
          <a:solidFill>
            <a:schemeClr val="lt1">
              <a:alpha val="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k-SK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4" name="Obdĺžnik 3">
            <a:extLst>
              <a:ext uri="{FF2B5EF4-FFF2-40B4-BE49-F238E27FC236}">
                <a16:creationId xmlns:a16="http://schemas.microsoft.com/office/drawing/2014/main" id="{EE292FDC-ECDC-D9C1-DE2E-A6948A0A65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4308" y="1383792"/>
            <a:ext cx="1687068" cy="256032"/>
          </a:xfrm>
          <a:prstGeom prst="rect">
            <a:avLst/>
          </a:prstGeom>
          <a:solidFill>
            <a:schemeClr val="lt1">
              <a:alpha val="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k-SK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6" name="Obdĺžnik 5">
            <a:extLst>
              <a:ext uri="{FF2B5EF4-FFF2-40B4-BE49-F238E27FC236}">
                <a16:creationId xmlns:a16="http://schemas.microsoft.com/office/drawing/2014/main" id="{0352FFDD-2182-7176-67F0-A826FB7B14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59624" y="3383280"/>
            <a:ext cx="2892552" cy="246888"/>
          </a:xfrm>
          <a:prstGeom prst="rect">
            <a:avLst/>
          </a:prstGeom>
          <a:solidFill>
            <a:schemeClr val="lt1">
              <a:alpha val="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k-SK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7" name="Obdĺžnik 6">
            <a:extLst>
              <a:ext uri="{FF2B5EF4-FFF2-40B4-BE49-F238E27FC236}">
                <a16:creationId xmlns:a16="http://schemas.microsoft.com/office/drawing/2014/main" id="{4BF4F847-3962-1DE5-3B2F-5272389BA5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4308" y="6318504"/>
            <a:ext cx="781812" cy="256032"/>
          </a:xfrm>
          <a:prstGeom prst="rect">
            <a:avLst/>
          </a:prstGeom>
          <a:solidFill>
            <a:schemeClr val="lt1">
              <a:alpha val="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k-SK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8" name="Obdĺžnik 7">
            <a:extLst>
              <a:ext uri="{FF2B5EF4-FFF2-40B4-BE49-F238E27FC236}">
                <a16:creationId xmlns:a16="http://schemas.microsoft.com/office/drawing/2014/main" id="{34B3BA51-D752-79BE-E1E0-59D48199AC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78480" y="6542532"/>
            <a:ext cx="7098792" cy="256032"/>
          </a:xfrm>
          <a:prstGeom prst="rect">
            <a:avLst/>
          </a:prstGeom>
          <a:solidFill>
            <a:schemeClr val="lt1">
              <a:alpha val="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k-SK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9" name="Obdĺžnik 8">
            <a:extLst>
              <a:ext uri="{FF2B5EF4-FFF2-40B4-BE49-F238E27FC236}">
                <a16:creationId xmlns:a16="http://schemas.microsoft.com/office/drawing/2014/main" id="{98FB8547-B414-F3E1-6A33-786C4CD148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78480" y="5888736"/>
            <a:ext cx="473964" cy="256032"/>
          </a:xfrm>
          <a:prstGeom prst="rect">
            <a:avLst/>
          </a:prstGeom>
          <a:solidFill>
            <a:schemeClr val="lt1">
              <a:alpha val="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k-SK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0" name="Obdĺžnik 9">
            <a:extLst>
              <a:ext uri="{FF2B5EF4-FFF2-40B4-BE49-F238E27FC236}">
                <a16:creationId xmlns:a16="http://schemas.microsoft.com/office/drawing/2014/main" id="{AF5D7145-35A1-35BF-04BF-9F8530AB30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51376" y="4093464"/>
            <a:ext cx="4187952" cy="256032"/>
          </a:xfrm>
          <a:prstGeom prst="rect">
            <a:avLst/>
          </a:prstGeom>
          <a:solidFill>
            <a:schemeClr val="lt1">
              <a:alpha val="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k-SK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511B29-BF62-1F9C-B083-34EF71A83D19}"/>
              </a:ext>
            </a:extLst>
          </p:cNvPr>
          <p:cNvSpPr txBox="1"/>
          <p:nvPr/>
        </p:nvSpPr>
        <p:spPr>
          <a:xfrm>
            <a:off x="10286999" y="382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>
                <a:solidFill>
                  <a:schemeClr val="bg1"/>
                </a:solidFill>
              </a:rPr>
              <a:t>Matú</a:t>
            </a:r>
            <a:r>
              <a:rPr lang="sk-SK" dirty="0"/>
              <a:t>š Ratkovský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179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2BBAF-6F51-5EBC-488F-E25564609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432BA7-D5CD-F6FE-63A7-11D3CA473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sk-SK" sz="4800" dirty="0"/>
              <a:t>Použitie AI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CD53E5C-A830-8769-B91F-5E1FA3A88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pt-BR" sz="2200" dirty="0"/>
              <a:t>Automatizácia integrácie </a:t>
            </a:r>
            <a:r>
              <a:rPr lang="sk-SK" sz="2200" dirty="0" err="1"/>
              <a:t>custom</a:t>
            </a:r>
            <a:r>
              <a:rPr lang="pt-BR" sz="2200" dirty="0"/>
              <a:t> mutátora do existujúceho projektu</a:t>
            </a:r>
            <a:endParaRPr lang="sk-SK" sz="2200" dirty="0"/>
          </a:p>
          <a:p>
            <a:r>
              <a:rPr lang="sk-SK" sz="2200" dirty="0"/>
              <a:t>Implementácia ako množina </a:t>
            </a:r>
            <a:r>
              <a:rPr lang="sk-SK" sz="2200" dirty="0" err="1"/>
              <a:t>promptov</a:t>
            </a:r>
            <a:endParaRPr lang="sk-SK" sz="2200" dirty="0"/>
          </a:p>
        </p:txBody>
      </p:sp>
      <p:pic>
        <p:nvPicPr>
          <p:cNvPr id="6" name="Obrázok 5" descr="Obrázok, na ktorom je text, snímka obrazovky, rad, písmo&#10;&#10;Obsah vygenerovaný pomocou AI môže byť nesprávny.">
            <a:extLst>
              <a:ext uri="{FF2B5EF4-FFF2-40B4-BE49-F238E27FC236}">
                <a16:creationId xmlns:a16="http://schemas.microsoft.com/office/drawing/2014/main" id="{0E1397E0-BDF4-5465-248C-DCD558307D0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3473"/>
            <a:ext cx="12192000" cy="19399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EEE1C5-B936-3300-9A4C-96AB26F473DB}"/>
              </a:ext>
            </a:extLst>
          </p:cNvPr>
          <p:cNvSpPr txBox="1"/>
          <p:nvPr/>
        </p:nvSpPr>
        <p:spPr>
          <a:xfrm>
            <a:off x="10286999" y="382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Matúš Ratkovský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126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ok 4" descr="Obrázok, na ktorom je text, snímka obrazovky, písmo, dizajn&#10;&#10;Obsah vygenerovaný pomocou AI môže byť nesprávny.">
            <a:extLst>
              <a:ext uri="{FF2B5EF4-FFF2-40B4-BE49-F238E27FC236}">
                <a16:creationId xmlns:a16="http://schemas.microsoft.com/office/drawing/2014/main" id="{1A42718A-0787-207C-1A43-BEE879BB23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08" y="1123527"/>
            <a:ext cx="2463568" cy="4604800"/>
          </a:xfrm>
          <a:prstGeom prst="rect">
            <a:avLst/>
          </a:prstGeom>
        </p:spPr>
      </p:pic>
      <p:pic>
        <p:nvPicPr>
          <p:cNvPr id="7" name="Obrázok 6" descr="Obrázok, na ktorom je text, snímka obrazovky, písmo&#10;&#10;Obsah vygenerovaný pomocou AI môže byť nesprávny.">
            <a:extLst>
              <a:ext uri="{FF2B5EF4-FFF2-40B4-BE49-F238E27FC236}">
                <a16:creationId xmlns:a16="http://schemas.microsoft.com/office/drawing/2014/main" id="{F3FB94C9-98B1-E44D-A23E-A1B7E32222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631" y="1515240"/>
            <a:ext cx="2560320" cy="3821373"/>
          </a:xfrm>
          <a:prstGeom prst="rect">
            <a:avLst/>
          </a:prstGeom>
        </p:spPr>
      </p:pic>
      <p:pic>
        <p:nvPicPr>
          <p:cNvPr id="9" name="Obrázok 8" descr="Obrázok, na ktorom je text, snímka obrazovky, písmo&#10;&#10;Obsah vygenerovaný pomocou AI môže byť nesprávny.">
            <a:extLst>
              <a:ext uri="{FF2B5EF4-FFF2-40B4-BE49-F238E27FC236}">
                <a16:creationId xmlns:a16="http://schemas.microsoft.com/office/drawing/2014/main" id="{D4064351-96B4-384D-B7CC-0FEF79466F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726" y="1820177"/>
            <a:ext cx="2560320" cy="3211499"/>
          </a:xfrm>
          <a:prstGeom prst="rect">
            <a:avLst/>
          </a:prstGeom>
        </p:spPr>
      </p:pic>
      <p:pic>
        <p:nvPicPr>
          <p:cNvPr id="11" name="Obrázok 10" descr="Obrázok, na ktorom je text, snímka obrazovky, písmo, softvér&#10;&#10;Obsah vygenerovaný pomocou AI môže byť nesprávny.">
            <a:extLst>
              <a:ext uri="{FF2B5EF4-FFF2-40B4-BE49-F238E27FC236}">
                <a16:creationId xmlns:a16="http://schemas.microsoft.com/office/drawing/2014/main" id="{EFE51750-5730-2468-E5EC-3F795B6362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662" y="2145767"/>
            <a:ext cx="2560320" cy="2560320"/>
          </a:xfrm>
          <a:prstGeom prst="rect">
            <a:avLst/>
          </a:prstGeom>
        </p:spPr>
      </p:pic>
      <p:sp>
        <p:nvSpPr>
          <p:cNvPr id="2" name="BlokTextu 1">
            <a:extLst>
              <a:ext uri="{FF2B5EF4-FFF2-40B4-BE49-F238E27FC236}">
                <a16:creationId xmlns:a16="http://schemas.microsoft.com/office/drawing/2014/main" id="{DBACF088-37B9-4D8F-5D85-BE35B70C00A1}"/>
              </a:ext>
            </a:extLst>
          </p:cNvPr>
          <p:cNvSpPr txBox="1"/>
          <p:nvPr/>
        </p:nvSpPr>
        <p:spPr>
          <a:xfrm>
            <a:off x="6096000" y="777240"/>
            <a:ext cx="5727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4800" dirty="0">
                <a:latin typeface="+mj-lt"/>
              </a:rPr>
              <a:t>Použitie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13013B-3400-09C1-37B2-F12B4803CC35}"/>
              </a:ext>
            </a:extLst>
          </p:cNvPr>
          <p:cNvSpPr txBox="1"/>
          <p:nvPr/>
        </p:nvSpPr>
        <p:spPr>
          <a:xfrm>
            <a:off x="10286999" y="382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Matúš Ratkovský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941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DC7703-F78F-D1E2-92C8-F1BF4EE23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sk-SK" sz="5400"/>
              <a:t>Výsledky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5BFBA7A-DDD5-269A-0A9B-94EBD123E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sk-SK" sz="2200" dirty="0"/>
              <a:t>Po spustení testovania mutácií môžeme vidieť výsledky vo forme HTML reportu.</a:t>
            </a:r>
          </a:p>
        </p:txBody>
      </p:sp>
      <p:pic>
        <p:nvPicPr>
          <p:cNvPr id="4" name="Obrázok 3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0E4A2E70-782C-45EE-62CF-545BACACD6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02" y="640080"/>
            <a:ext cx="6700107" cy="5577840"/>
          </a:xfrm>
          <a:prstGeom prst="rect">
            <a:avLst/>
          </a:prstGeom>
        </p:spPr>
      </p:pic>
      <p:sp>
        <p:nvSpPr>
          <p:cNvPr id="5" name="Obdĺžnik 4">
            <a:extLst>
              <a:ext uri="{FF2B5EF4-FFF2-40B4-BE49-F238E27FC236}">
                <a16:creationId xmlns:a16="http://schemas.microsoft.com/office/drawing/2014/main" id="{12A36265-4B28-15CD-B0EF-E85E34A456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638544" y="5001768"/>
            <a:ext cx="2743200" cy="210312"/>
          </a:xfrm>
          <a:prstGeom prst="rect">
            <a:avLst/>
          </a:prstGeom>
          <a:solidFill>
            <a:schemeClr val="lt1">
              <a:alpha val="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k-SK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6" name="Obdĺžnik 5">
            <a:extLst>
              <a:ext uri="{FF2B5EF4-FFF2-40B4-BE49-F238E27FC236}">
                <a16:creationId xmlns:a16="http://schemas.microsoft.com/office/drawing/2014/main" id="{883F82DB-02D6-C438-3864-9DF3194DFA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629400" y="5248656"/>
            <a:ext cx="2039112" cy="240432"/>
          </a:xfrm>
          <a:prstGeom prst="rect">
            <a:avLst/>
          </a:prstGeom>
          <a:solidFill>
            <a:schemeClr val="lt1">
              <a:alpha val="0"/>
            </a:schemeClr>
          </a:solidFill>
          <a:ln w="5715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k-SK" dirty="0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721A43-F0EA-87B7-ACC0-D342E01B6E78}"/>
              </a:ext>
            </a:extLst>
          </p:cNvPr>
          <p:cNvSpPr txBox="1"/>
          <p:nvPr/>
        </p:nvSpPr>
        <p:spPr>
          <a:xfrm>
            <a:off x="10286999" y="382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Matúš Ratkovský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26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491299-59C9-CA75-649A-B17161C1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Zhrnutie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F85FF70-5B4B-C7B6-071B-F86BDE663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Manuálne som implementoval 4 </a:t>
            </a:r>
            <a:r>
              <a:rPr lang="sk-SK" dirty="0" err="1"/>
              <a:t>custom</a:t>
            </a:r>
            <a:r>
              <a:rPr lang="sk-SK" dirty="0"/>
              <a:t> </a:t>
            </a:r>
            <a:r>
              <a:rPr lang="sk-SK" dirty="0" err="1"/>
              <a:t>mutátory</a:t>
            </a:r>
            <a:endParaRPr lang="sk-SK" dirty="0"/>
          </a:p>
          <a:p>
            <a:r>
              <a:rPr lang="sk-SK" dirty="0"/>
              <a:t>Vytvoril som </a:t>
            </a:r>
            <a:r>
              <a:rPr lang="sk-SK" dirty="0" err="1"/>
              <a:t>prompty</a:t>
            </a:r>
            <a:r>
              <a:rPr lang="sk-SK" dirty="0"/>
              <a:t> na automatizáciu integrácie </a:t>
            </a:r>
            <a:r>
              <a:rPr lang="sk-SK" dirty="0" err="1"/>
              <a:t>custom</a:t>
            </a:r>
            <a:r>
              <a:rPr lang="sk-SK" dirty="0"/>
              <a:t> </a:t>
            </a:r>
            <a:r>
              <a:rPr lang="sk-SK" dirty="0" err="1"/>
              <a:t>mutátorov</a:t>
            </a:r>
            <a:r>
              <a:rPr lang="sk-SK" dirty="0"/>
              <a:t> do existujúceho projektu.</a:t>
            </a:r>
          </a:p>
          <a:p>
            <a:r>
              <a:rPr lang="sk-SK" dirty="0"/>
              <a:t>Otestoval som </a:t>
            </a:r>
            <a:r>
              <a:rPr lang="sk-SK" dirty="0" err="1"/>
              <a:t>mutátory</a:t>
            </a:r>
            <a:r>
              <a:rPr lang="sk-SK" dirty="0"/>
              <a:t> na syntetických príkladoch a existujúcom repe: </a:t>
            </a:r>
            <a:r>
              <a:rPr lang="sk-SK" dirty="0">
                <a:hlinkClick r:id="rId2"/>
              </a:rPr>
              <a:t>https://github.com/sixty-north/cosmic-ray</a:t>
            </a:r>
            <a:endParaRPr lang="sk-SK" dirty="0"/>
          </a:p>
          <a:p>
            <a:pPr marL="0" indent="0">
              <a:buNone/>
            </a:pPr>
            <a:endParaRPr lang="sk-S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1731DA-29A8-12FB-BC23-ED9D3FE67F9C}"/>
              </a:ext>
            </a:extLst>
          </p:cNvPr>
          <p:cNvSpPr txBox="1"/>
          <p:nvPr/>
        </p:nvSpPr>
        <p:spPr>
          <a:xfrm>
            <a:off x="10286999" y="382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Matúš Ratkovský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2071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C6DCF-DBB3-1E1E-C55C-9DD578421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User 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E9D19-3265-0B40-B7CB-96BE9665F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err="1">
                <a:ea typeface="Calibri"/>
                <a:cs typeface="Calibri"/>
              </a:rPr>
              <a:t>Mojím</a:t>
            </a:r>
            <a:r>
              <a:rPr lang="en-US" sz="2000">
                <a:ea typeface="Calibri"/>
                <a:cs typeface="Calibri"/>
              </a:rPr>
              <a:t> </a:t>
            </a:r>
            <a:r>
              <a:rPr lang="en-US" sz="2000" err="1">
                <a:ea typeface="Calibri"/>
                <a:cs typeface="Calibri"/>
              </a:rPr>
              <a:t>cieľom</a:t>
            </a:r>
            <a:r>
              <a:rPr lang="en-US" sz="2000">
                <a:ea typeface="Calibri"/>
                <a:cs typeface="Calibri"/>
              </a:rPr>
              <a:t> bola </a:t>
            </a:r>
            <a:r>
              <a:rPr lang="en-US" sz="2000" err="1">
                <a:ea typeface="Calibri"/>
                <a:cs typeface="Calibri"/>
              </a:rPr>
              <a:t>implentácia</a:t>
            </a:r>
            <a:r>
              <a:rPr lang="en-US" sz="2000">
                <a:ea typeface="Calibri"/>
                <a:cs typeface="Calibri"/>
              </a:rPr>
              <a:t> user story Mutation Test Evaluation.</a:t>
            </a:r>
          </a:p>
          <a:p>
            <a:endParaRPr lang="en-US" sz="2000">
              <a:ea typeface="Calibri"/>
              <a:cs typeface="Calibri"/>
            </a:endParaRPr>
          </a:p>
        </p:txBody>
      </p:sp>
      <p:pic>
        <p:nvPicPr>
          <p:cNvPr id="5" name="Picture 4" descr="A screenshot of a test">
            <a:extLst>
              <a:ext uri="{FF2B5EF4-FFF2-40B4-BE49-F238E27FC236}">
                <a16:creationId xmlns:a16="http://schemas.microsoft.com/office/drawing/2014/main" id="{9B51A908-8492-7C0F-CF03-177020879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474933"/>
            <a:ext cx="9144000" cy="25674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B21C28-2BE8-3BA3-99A3-9D974E23E77C}"/>
              </a:ext>
            </a:extLst>
          </p:cNvPr>
          <p:cNvSpPr txBox="1"/>
          <p:nvPr/>
        </p:nvSpPr>
        <p:spPr>
          <a:xfrm>
            <a:off x="10501312" y="45522"/>
            <a:ext cx="1704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 err="1"/>
              <a:t>Steven</a:t>
            </a:r>
            <a:r>
              <a:rPr lang="sk-SK" dirty="0"/>
              <a:t> </a:t>
            </a:r>
            <a:r>
              <a:rPr lang="sk-SK" dirty="0" err="1"/>
              <a:t>Gavlák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017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63296-162A-F93E-3C73-5C22DA7DC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>
                <a:ea typeface="Calibri"/>
                <a:cs typeface="Calibri"/>
              </a:rPr>
              <a:t>Použitie</a:t>
            </a:r>
            <a:r>
              <a:rPr lang="en-US">
                <a:ea typeface="Calibri"/>
                <a:cs typeface="Calibri"/>
              </a:rPr>
              <a:t> AI </a:t>
            </a:r>
            <a:r>
              <a:rPr lang="en-US" err="1">
                <a:ea typeface="Calibri"/>
                <a:cs typeface="Calibri"/>
              </a:rPr>
              <a:t>na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implementáciu</a:t>
            </a:r>
            <a:r>
              <a:rPr lang="en-US">
                <a:ea typeface="Calibri"/>
                <a:cs typeface="Calibri"/>
              </a:rPr>
              <a:t> User story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F146B98-402A-1E8A-50E5-7FAB66B04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600" dirty="0">
              <a:ea typeface="Calibri"/>
              <a:cs typeface="Calibri"/>
            </a:endParaRPr>
          </a:p>
          <a:p>
            <a:r>
              <a:rPr lang="en-US" sz="1600" dirty="0" err="1">
                <a:ea typeface="Calibri"/>
                <a:cs typeface="Calibri"/>
              </a:rPr>
              <a:t>Zobral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som</a:t>
            </a:r>
            <a:r>
              <a:rPr lang="en-US" sz="1600" dirty="0">
                <a:ea typeface="Calibri"/>
                <a:cs typeface="Calibri"/>
              </a:rPr>
              <a:t> user story a z </a:t>
            </a:r>
            <a:r>
              <a:rPr lang="en-US" sz="1600" dirty="0" err="1">
                <a:ea typeface="Calibri"/>
                <a:cs typeface="Calibri"/>
              </a:rPr>
              <a:t>neho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som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dirty="0" err="1">
                <a:ea typeface="Calibri"/>
                <a:cs typeface="Calibri"/>
              </a:rPr>
              <a:t>vygeneroval</a:t>
            </a:r>
            <a:r>
              <a:rPr lang="en-US" sz="1600" dirty="0">
                <a:ea typeface="Calibri"/>
                <a:cs typeface="Calibri"/>
              </a:rPr>
              <a:t> (a </a:t>
            </a:r>
            <a:r>
              <a:rPr lang="en-US" sz="1600" dirty="0" err="1">
                <a:ea typeface="Calibri"/>
                <a:cs typeface="Calibri"/>
              </a:rPr>
              <a:t>odladil</a:t>
            </a:r>
            <a:r>
              <a:rPr lang="en-US" sz="1600" dirty="0">
                <a:ea typeface="Calibri"/>
                <a:cs typeface="Calibri"/>
              </a:rPr>
              <a:t>) </a:t>
            </a:r>
            <a:r>
              <a:rPr lang="en-US" sz="1600" dirty="0" err="1">
                <a:ea typeface="Calibri"/>
                <a:cs typeface="Calibri"/>
              </a:rPr>
              <a:t>pomocu</a:t>
            </a:r>
            <a:r>
              <a:rPr lang="en-US" sz="1600" dirty="0">
                <a:ea typeface="Calibri"/>
                <a:cs typeface="Calibri"/>
              </a:rPr>
              <a:t> AI </a:t>
            </a:r>
            <a:r>
              <a:rPr lang="en-US" sz="1600" dirty="0" err="1">
                <a:ea typeface="Calibri"/>
                <a:cs typeface="Calibri"/>
              </a:rPr>
              <a:t>nástroja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následnú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sadu</a:t>
            </a:r>
            <a:r>
              <a:rPr lang="en-US" sz="1600" dirty="0">
                <a:ea typeface="Calibri"/>
                <a:cs typeface="Calibri"/>
              </a:rPr>
              <a:t> use </a:t>
            </a:r>
            <a:r>
              <a:rPr lang="en-US" sz="1600" dirty="0" err="1">
                <a:ea typeface="Calibri"/>
                <a:cs typeface="Calibri"/>
              </a:rPr>
              <a:t>caseov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Calibri"/>
                <a:cs typeface="Calibri"/>
              </a:rPr>
              <a:t>Tieto </a:t>
            </a:r>
            <a:r>
              <a:rPr lang="en-US" sz="1600" err="1">
                <a:ea typeface="Calibri"/>
                <a:cs typeface="Calibri"/>
              </a:rPr>
              <a:t>vygenrované</a:t>
            </a:r>
            <a:r>
              <a:rPr lang="en-US" sz="1600" dirty="0">
                <a:ea typeface="Calibri"/>
                <a:cs typeface="Calibri"/>
              </a:rPr>
              <a:t> use-</a:t>
            </a:r>
            <a:r>
              <a:rPr lang="en-US" sz="1600" err="1">
                <a:ea typeface="Calibri"/>
                <a:cs typeface="Calibri"/>
              </a:rPr>
              <a:t>casy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err="1">
                <a:ea typeface="Calibri"/>
                <a:cs typeface="Calibri"/>
              </a:rPr>
              <a:t>boli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err="1">
                <a:ea typeface="Calibri"/>
                <a:cs typeface="Calibri"/>
              </a:rPr>
              <a:t>následné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err="1">
                <a:ea typeface="Calibri"/>
                <a:cs typeface="Calibri"/>
              </a:rPr>
              <a:t>použité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err="1">
                <a:ea typeface="Calibri"/>
                <a:cs typeface="Calibri"/>
              </a:rPr>
              <a:t>nástrojom</a:t>
            </a:r>
            <a:r>
              <a:rPr lang="en-US" sz="1600" dirty="0">
                <a:ea typeface="Calibri"/>
                <a:cs typeface="Calibri"/>
              </a:rPr>
              <a:t> Roo Code </a:t>
            </a:r>
            <a:r>
              <a:rPr lang="en-US" sz="1600" err="1">
                <a:ea typeface="Calibri"/>
                <a:cs typeface="Calibri"/>
              </a:rPr>
              <a:t>ako</a:t>
            </a:r>
            <a:r>
              <a:rPr lang="en-US" sz="1600" dirty="0">
                <a:ea typeface="Calibri"/>
                <a:cs typeface="Calibri"/>
              </a:rPr>
              <a:t> "</a:t>
            </a:r>
            <a:r>
              <a:rPr lang="en-US" sz="1600" err="1">
                <a:ea typeface="Calibri"/>
                <a:cs typeface="Calibri"/>
              </a:rPr>
              <a:t>návod</a:t>
            </a:r>
            <a:r>
              <a:rPr lang="en-US" sz="1600" dirty="0">
                <a:ea typeface="Calibri"/>
                <a:cs typeface="Calibri"/>
              </a:rPr>
              <a:t>" </a:t>
            </a:r>
            <a:r>
              <a:rPr lang="en-US" sz="1600" err="1">
                <a:ea typeface="Calibri"/>
                <a:cs typeface="Calibri"/>
              </a:rPr>
              <a:t>na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err="1">
                <a:ea typeface="Calibri"/>
                <a:cs typeface="Calibri"/>
              </a:rPr>
              <a:t>automatické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err="1">
                <a:ea typeface="Calibri"/>
                <a:cs typeface="Calibri"/>
              </a:rPr>
              <a:t>vykonanie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err="1">
                <a:ea typeface="Calibri"/>
                <a:cs typeface="Calibri"/>
              </a:rPr>
              <a:t>riešenia</a:t>
            </a:r>
            <a:r>
              <a:rPr lang="en-US" sz="1600" dirty="0">
                <a:ea typeface="Calibri"/>
                <a:cs typeface="Calibri"/>
              </a:rPr>
              <a:t> </a:t>
            </a:r>
          </a:p>
        </p:txBody>
      </p:sp>
      <p:pic>
        <p:nvPicPr>
          <p:cNvPr id="3" name="Picture 2" descr="A diagram of a test&#10;&#10;AI-generated content may be incorrect.">
            <a:extLst>
              <a:ext uri="{FF2B5EF4-FFF2-40B4-BE49-F238E27FC236}">
                <a16:creationId xmlns:a16="http://schemas.microsoft.com/office/drawing/2014/main" id="{451C5647-6119-2C13-58DA-D29B352A2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079" y="3079103"/>
            <a:ext cx="9661584" cy="30532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7816A0-C43F-714A-2CE3-C7414479268A}"/>
              </a:ext>
            </a:extLst>
          </p:cNvPr>
          <p:cNvSpPr txBox="1"/>
          <p:nvPr/>
        </p:nvSpPr>
        <p:spPr>
          <a:xfrm>
            <a:off x="10501312" y="45522"/>
            <a:ext cx="1704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 err="1"/>
              <a:t>Steven</a:t>
            </a:r>
            <a:r>
              <a:rPr lang="sk-SK" dirty="0"/>
              <a:t> </a:t>
            </a:r>
            <a:r>
              <a:rPr lang="sk-SK" dirty="0" err="1"/>
              <a:t>Gavlák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132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AA520-6B90-A333-C324-E46B47A52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Calibri"/>
                <a:cs typeface="Calibri"/>
              </a:rPr>
              <a:t>Use case 04 - Evaluate Mutation Tests</a:t>
            </a:r>
            <a:endParaRPr lang="en-US"/>
          </a:p>
        </p:txBody>
      </p:sp>
      <p:pic>
        <p:nvPicPr>
          <p:cNvPr id="12" name="Content Placeholder 11" descr="A screenshot of a test&#10;&#10;AI-generated content may be incorrect.">
            <a:extLst>
              <a:ext uri="{FF2B5EF4-FFF2-40B4-BE49-F238E27FC236}">
                <a16:creationId xmlns:a16="http://schemas.microsoft.com/office/drawing/2014/main" id="{4BB13834-FAEA-09C1-5E04-00C766AD4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82827" y="1204417"/>
            <a:ext cx="9087758" cy="5454009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9EBB798-8F85-A6BA-243A-3CA8D459D823}"/>
                  </a:ext>
                </a:extLst>
              </p14:cNvPr>
              <p14:cNvContentPartPr/>
              <p14:nvPr/>
            </p14:nvContentPartPr>
            <p14:xfrm>
              <a:off x="1700716" y="6630054"/>
              <a:ext cx="3378024" cy="6823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9EBB798-8F85-A6BA-243A-3CA8D459D8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82719" y="6288904"/>
                <a:ext cx="3413658" cy="682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DE04A64-EB36-6991-7AF1-D37762A55A2F}"/>
                  </a:ext>
                </a:extLst>
              </p14:cNvPr>
              <p14:cNvContentPartPr/>
              <p14:nvPr/>
            </p14:nvContentPartPr>
            <p14:xfrm>
              <a:off x="1831075" y="3422830"/>
              <a:ext cx="5547061" cy="6823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DE04A64-EB36-6991-7AF1-D37762A55A2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13076" y="3081680"/>
                <a:ext cx="5582700" cy="6823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CDA6E27-D078-AF23-B4EC-2EE7CB14F046}"/>
              </a:ext>
            </a:extLst>
          </p:cNvPr>
          <p:cNvSpPr txBox="1"/>
          <p:nvPr/>
        </p:nvSpPr>
        <p:spPr>
          <a:xfrm>
            <a:off x="10501312" y="45522"/>
            <a:ext cx="1704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 err="1"/>
              <a:t>Steven</a:t>
            </a:r>
            <a:r>
              <a:rPr lang="sk-SK" dirty="0"/>
              <a:t> </a:t>
            </a:r>
            <a:r>
              <a:rPr lang="sk-SK" dirty="0" err="1"/>
              <a:t>Gavlák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0481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EEAFD-1101-C4D9-E915-AA7EE505A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ea typeface="Calibri"/>
                <a:cs typeface="Calibri"/>
              </a:rPr>
              <a:t>Use-Case 04.2 - Generate and Inte</a:t>
            </a:r>
            <a:r>
              <a:rPr lang="sk-SK" sz="3200" dirty="0">
                <a:ea typeface="Calibri"/>
                <a:cs typeface="Calibri"/>
              </a:rPr>
              <a:t>r</a:t>
            </a:r>
            <a:r>
              <a:rPr lang="en-US" sz="3200" dirty="0">
                <a:ea typeface="Calibri"/>
                <a:cs typeface="Calibri"/>
              </a:rPr>
              <a:t>pr</a:t>
            </a:r>
            <a:r>
              <a:rPr lang="sk-SK" sz="3200" dirty="0">
                <a:ea typeface="Calibri"/>
                <a:cs typeface="Calibri"/>
              </a:rPr>
              <a:t>et</a:t>
            </a:r>
            <a:r>
              <a:rPr lang="en-US" sz="3200" dirty="0">
                <a:ea typeface="Calibri"/>
                <a:cs typeface="Calibri"/>
              </a:rPr>
              <a:t> Mutation testing Results</a:t>
            </a:r>
            <a:endParaRPr lang="en-US" sz="3200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86975E-8AC9-0881-7986-9F4A1C98C3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1466" y="1313598"/>
            <a:ext cx="7602242" cy="55427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9D53007-62E3-F407-379C-0CA76A10D2C7}"/>
                  </a:ext>
                </a:extLst>
              </p14:cNvPr>
              <p14:cNvContentPartPr/>
              <p14:nvPr/>
            </p14:nvContentPartPr>
            <p14:xfrm>
              <a:off x="2165445" y="4091571"/>
              <a:ext cx="2715079" cy="6823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9D53007-62E3-F407-379C-0CA76A10D2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47448" y="3750421"/>
                <a:ext cx="2750714" cy="6823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C9C94F0-5503-63A0-588D-BB26230937BF}"/>
              </a:ext>
            </a:extLst>
          </p:cNvPr>
          <p:cNvSpPr txBox="1"/>
          <p:nvPr/>
        </p:nvSpPr>
        <p:spPr>
          <a:xfrm>
            <a:off x="10501312" y="45522"/>
            <a:ext cx="1704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 err="1"/>
              <a:t>Steven</a:t>
            </a:r>
            <a:r>
              <a:rPr lang="sk-SK" dirty="0"/>
              <a:t> </a:t>
            </a:r>
            <a:r>
              <a:rPr lang="sk-SK" dirty="0" err="1"/>
              <a:t>Gavlák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3763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3F26-C0C1-A387-522D-08C1EC7C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05" y="98426"/>
            <a:ext cx="10515600" cy="1325563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AI </a:t>
            </a:r>
            <a:r>
              <a:rPr lang="en-US" dirty="0" err="1">
                <a:ea typeface="Calibri"/>
                <a:cs typeface="Calibri"/>
              </a:rPr>
              <a:t>výstup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AF1A7D-B883-9CA1-CD43-995B04D751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1985" y="2730955"/>
            <a:ext cx="8983620" cy="41255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C8A29F-9C28-F692-0939-B542564168AF}"/>
              </a:ext>
            </a:extLst>
          </p:cNvPr>
          <p:cNvSpPr txBox="1"/>
          <p:nvPr/>
        </p:nvSpPr>
        <p:spPr>
          <a:xfrm>
            <a:off x="2055405" y="761207"/>
            <a:ext cx="8236780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ct val="20000"/>
              </a:spcBef>
            </a:pPr>
            <a:endParaRPr lang="en-US" sz="1600" dirty="0">
              <a:ea typeface="Calibri"/>
              <a:cs typeface="Calibri"/>
            </a:endParaRP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1600" dirty="0" err="1">
                <a:ea typeface="Calibri"/>
                <a:cs typeface="Calibri"/>
              </a:rPr>
              <a:t>Klasifikuje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príčinu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dirty="0" err="1">
                <a:ea typeface="Calibri"/>
                <a:cs typeface="Calibri"/>
              </a:rPr>
              <a:t>prečo</a:t>
            </a:r>
            <a:r>
              <a:rPr lang="en-US" sz="1600" dirty="0">
                <a:ea typeface="Calibri"/>
                <a:cs typeface="Calibri"/>
              </a:rPr>
              <a:t> mutator </a:t>
            </a:r>
            <a:r>
              <a:rPr lang="en-US" sz="1600" dirty="0" err="1">
                <a:ea typeface="Calibri"/>
                <a:cs typeface="Calibri"/>
              </a:rPr>
              <a:t>prežil</a:t>
            </a:r>
            <a:r>
              <a:rPr lang="en-US" sz="1600" dirty="0">
                <a:ea typeface="Calibri"/>
                <a:cs typeface="Calibri"/>
              </a:rPr>
              <a:t> (Testing / Coding / Uknown)</a:t>
            </a: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1600" dirty="0" err="1">
                <a:ea typeface="Calibri"/>
                <a:cs typeface="Calibri"/>
              </a:rPr>
              <a:t>Dáva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odôvodnenie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prečo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dirty="0" err="1">
                <a:ea typeface="Calibri"/>
                <a:cs typeface="Calibri"/>
              </a:rPr>
              <a:t>sa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rozhodol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dirty="0" err="1">
                <a:ea typeface="Calibri"/>
                <a:cs typeface="Calibri"/>
              </a:rPr>
              <a:t>tak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ako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sa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rozohodol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založené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na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analýze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mutátora</a:t>
            </a:r>
            <a:r>
              <a:rPr lang="en-US" sz="1600" dirty="0">
                <a:ea typeface="Calibri"/>
                <a:cs typeface="Calibri"/>
              </a:rPr>
              <a:t>, </a:t>
            </a:r>
            <a:r>
              <a:rPr lang="en-US" sz="1600" dirty="0" err="1">
                <a:ea typeface="Calibri"/>
                <a:cs typeface="Calibri"/>
              </a:rPr>
              <a:t>codebasu</a:t>
            </a:r>
            <a:r>
              <a:rPr lang="en-US" sz="1600" dirty="0">
                <a:ea typeface="Calibri"/>
                <a:cs typeface="Calibri"/>
              </a:rPr>
              <a:t> a </a:t>
            </a:r>
            <a:r>
              <a:rPr lang="en-US" sz="1600" dirty="0" err="1">
                <a:ea typeface="Calibri"/>
                <a:cs typeface="Calibri"/>
              </a:rPr>
              <a:t>testov</a:t>
            </a:r>
            <a:endParaRPr lang="en-US" sz="1600" dirty="0">
              <a:ea typeface="Calibri"/>
              <a:cs typeface="Calibri"/>
            </a:endParaRP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1600" dirty="0" err="1">
                <a:ea typeface="Calibri"/>
                <a:cs typeface="Calibri"/>
              </a:rPr>
              <a:t>Navrhuje</a:t>
            </a:r>
            <a:r>
              <a:rPr lang="en-US" sz="1600" dirty="0">
                <a:ea typeface="Calibri"/>
                <a:cs typeface="Calibri"/>
              </a:rPr>
              <a:t> </a:t>
            </a:r>
            <a:r>
              <a:rPr lang="en-US" sz="1600" dirty="0" err="1">
                <a:ea typeface="Calibri"/>
                <a:cs typeface="Calibri"/>
              </a:rPr>
              <a:t>konkrétne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úpravy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codebasu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alebo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testov</a:t>
            </a:r>
            <a:endParaRPr lang="en-US" sz="1600" dirty="0">
              <a:ea typeface="Calibri"/>
              <a:cs typeface="Calibri"/>
            </a:endParaRP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1600" dirty="0" err="1">
                <a:ea typeface="Calibri"/>
                <a:cs typeface="Calibri"/>
              </a:rPr>
              <a:t>Tento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výstup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generuje</a:t>
            </a:r>
            <a:r>
              <a:rPr lang="en-US" sz="1600" dirty="0">
                <a:ea typeface="Calibri"/>
                <a:cs typeface="Calibri"/>
              </a:rPr>
              <a:t> do </a:t>
            </a:r>
            <a:r>
              <a:rPr lang="en-US" sz="1600" dirty="0" err="1">
                <a:ea typeface="Calibri"/>
                <a:cs typeface="Calibri"/>
              </a:rPr>
              <a:t>šturkturovaného</a:t>
            </a:r>
            <a:r>
              <a:rPr lang="en-US" sz="1600" dirty="0">
                <a:ea typeface="Calibri"/>
                <a:cs typeface="Calibri"/>
              </a:rPr>
              <a:t> Markdown </a:t>
            </a:r>
            <a:r>
              <a:rPr lang="en-US" sz="1600" dirty="0" err="1">
                <a:ea typeface="Calibri"/>
                <a:cs typeface="Calibri"/>
              </a:rPr>
              <a:t>reportu</a:t>
            </a:r>
            <a:endParaRPr lang="en-US" sz="1600" dirty="0">
              <a:ea typeface="Calibri"/>
              <a:cs typeface="Calibri"/>
            </a:endParaRPr>
          </a:p>
          <a:p>
            <a:pPr marL="742950" lvl="1" indent="-285750">
              <a:spcBef>
                <a:spcPct val="20000"/>
              </a:spcBef>
              <a:buFont typeface="Courier New,monospace"/>
              <a:buChar char="o"/>
            </a:pPr>
            <a:r>
              <a:rPr lang="en-US" sz="1600" dirty="0" err="1">
                <a:ea typeface="Calibri"/>
                <a:cs typeface="Calibri"/>
              </a:rPr>
              <a:t>zoskupené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podľa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mutačného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operátora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alebo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podľa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súboru</a:t>
            </a:r>
            <a:endParaRPr lang="en-US" sz="1600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30C1DA-C209-5E55-C115-8DEDAC67221D}"/>
              </a:ext>
            </a:extLst>
          </p:cNvPr>
          <p:cNvSpPr txBox="1"/>
          <p:nvPr/>
        </p:nvSpPr>
        <p:spPr>
          <a:xfrm>
            <a:off x="10501312" y="45522"/>
            <a:ext cx="1704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 err="1"/>
              <a:t>Steven</a:t>
            </a:r>
            <a:r>
              <a:rPr lang="sk-SK" dirty="0"/>
              <a:t> </a:t>
            </a:r>
            <a:r>
              <a:rPr lang="sk-SK" dirty="0" err="1"/>
              <a:t>Gavlák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7633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Prínos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1600200"/>
            <a:ext cx="8340511" cy="30841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Prehľadné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stručné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výsledky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mutačného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testovania</a:t>
            </a:r>
          </a:p>
          <a:p>
            <a:r>
              <a:rPr lang="en-US" err="1">
                <a:ea typeface="+mn-lt"/>
                <a:cs typeface="+mn-lt"/>
              </a:rPr>
              <a:t>Rýchlejšia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identifikácia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slabých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testov</a:t>
            </a:r>
            <a:endParaRPr err="1">
              <a:ea typeface="Calibri"/>
              <a:cs typeface="Calibri"/>
            </a:endParaRPr>
          </a:p>
          <a:p>
            <a:r>
              <a:rPr lang="en-US" err="1">
                <a:ea typeface="+mn-lt"/>
                <a:cs typeface="+mn-lt"/>
              </a:rPr>
              <a:t>Konkrétne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odporúčania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namiesto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surových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dát</a:t>
            </a:r>
            <a:endParaRPr err="1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0A7FB9-73B8-F7B8-52E2-0A0C3590F541}"/>
              </a:ext>
            </a:extLst>
          </p:cNvPr>
          <p:cNvSpPr txBox="1"/>
          <p:nvPr/>
        </p:nvSpPr>
        <p:spPr>
          <a:xfrm>
            <a:off x="10501312" y="45522"/>
            <a:ext cx="1704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 err="1"/>
              <a:t>Steven</a:t>
            </a:r>
            <a:r>
              <a:rPr lang="sk-SK" dirty="0"/>
              <a:t> </a:t>
            </a:r>
            <a:r>
              <a:rPr lang="sk-SK" dirty="0" err="1"/>
              <a:t>Gavlák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sk-SK" dirty="0" err="1"/>
              <a:t>Help</a:t>
            </a:r>
            <a:r>
              <a:rPr lang="sk-SK" dirty="0"/>
              <a:t> </a:t>
            </a:r>
            <a:r>
              <a:rPr lang="sk-SK" dirty="0" err="1"/>
              <a:t>with</a:t>
            </a:r>
            <a:r>
              <a:rPr lang="sk-SK" dirty="0"/>
              <a:t> </a:t>
            </a:r>
            <a:r>
              <a:rPr lang="sk-SK" dirty="0" err="1"/>
              <a:t>fixes</a:t>
            </a:r>
            <a:r>
              <a:rPr lang="sk-SK" dirty="0"/>
              <a:t> / </a:t>
            </a:r>
            <a:r>
              <a:rPr lang="sk-SK" dirty="0" err="1"/>
              <a:t>additions</a:t>
            </a:r>
            <a:r>
              <a:rPr lang="sk-SK" dirty="0"/>
              <a:t> </a:t>
            </a:r>
            <a:br>
              <a:rPr lang="sk-SK" dirty="0"/>
            </a:br>
            <a:r>
              <a:rPr lang="sk-SK" dirty="0"/>
              <a:t>to </a:t>
            </a:r>
            <a:r>
              <a:rPr lang="sk-SK" dirty="0" err="1"/>
              <a:t>existing</a:t>
            </a:r>
            <a:r>
              <a:rPr lang="sk-SK" dirty="0"/>
              <a:t> </a:t>
            </a:r>
            <a:r>
              <a:rPr lang="sk-SK" dirty="0" err="1"/>
              <a:t>tests</a:t>
            </a:r>
            <a:r>
              <a:rPr lang="sk-SK" dirty="0"/>
              <a:t> </a:t>
            </a:r>
            <a:br>
              <a:rPr lang="en-US" dirty="0"/>
            </a:br>
            <a:r>
              <a:rPr lang="sk-SK" dirty="0"/>
              <a:t>(</a:t>
            </a:r>
            <a:r>
              <a:rPr lang="sk-SK" dirty="0" err="1"/>
              <a:t>using</a:t>
            </a:r>
            <a:r>
              <a:rPr lang="sk-SK" dirty="0"/>
              <a:t> AI)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dirty="0"/>
              <a:t>Ako nechať AI napísať test na preživšieho </a:t>
            </a:r>
            <a:r>
              <a:rPr lang="sk-SK" dirty="0" err="1"/>
              <a:t>mutanta</a:t>
            </a:r>
            <a:endParaRPr lang="sk-S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87FFD-016E-81E1-E47D-81439BDF8746}"/>
              </a:ext>
            </a:extLst>
          </p:cNvPr>
          <p:cNvSpPr txBox="1"/>
          <p:nvPr/>
        </p:nvSpPr>
        <p:spPr>
          <a:xfrm>
            <a:off x="10787062" y="0"/>
            <a:ext cx="1404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Jozef Blaško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5572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42394C-6C5B-54C8-587E-BEA28219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User </a:t>
            </a:r>
            <a:r>
              <a:rPr lang="sk-SK" dirty="0" err="1"/>
              <a:t>stories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34BEFC3-36D7-F0B2-93AF-08D312F92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sk-SK" dirty="0"/>
          </a:p>
          <a:p>
            <a:r>
              <a:rPr lang="en-US" dirty="0" err="1"/>
              <a:t>Chcem</a:t>
            </a:r>
            <a:r>
              <a:rPr lang="en-US" dirty="0"/>
              <a:t> </a:t>
            </a:r>
            <a:r>
              <a:rPr lang="en-US" dirty="0" err="1"/>
              <a:t>vytvárať</a:t>
            </a:r>
            <a:r>
              <a:rPr lang="en-US" dirty="0"/>
              <a:t> </a:t>
            </a:r>
            <a:r>
              <a:rPr lang="en-US" dirty="0" err="1"/>
              <a:t>nové</a:t>
            </a:r>
            <a:r>
              <a:rPr lang="en-US" dirty="0"/>
              <a:t> testy (</a:t>
            </a:r>
            <a:r>
              <a:rPr lang="en-US" dirty="0" err="1"/>
              <a:t>alebo</a:t>
            </a:r>
            <a:r>
              <a:rPr lang="en-US" dirty="0"/>
              <a:t> </a:t>
            </a:r>
            <a:r>
              <a:rPr lang="en-US" dirty="0" err="1"/>
              <a:t>zlepšovať</a:t>
            </a:r>
            <a:r>
              <a:rPr lang="en-US" dirty="0"/>
              <a:t> </a:t>
            </a:r>
            <a:r>
              <a:rPr lang="en-US" dirty="0" err="1"/>
              <a:t>existujúce</a:t>
            </a:r>
            <a:r>
              <a:rPr lang="en-US" dirty="0"/>
              <a:t>).</a:t>
            </a:r>
          </a:p>
          <a:p>
            <a:r>
              <a:rPr lang="en-US" dirty="0"/>
              <a:t>Na </a:t>
            </a:r>
            <a:r>
              <a:rPr lang="en-US" dirty="0" err="1"/>
              <a:t>základe</a:t>
            </a:r>
            <a:r>
              <a:rPr lang="en-US" dirty="0"/>
              <a:t> </a:t>
            </a:r>
            <a:r>
              <a:rPr lang="en-US" dirty="0" err="1"/>
              <a:t>výsledkov</a:t>
            </a:r>
            <a:r>
              <a:rPr lang="en-US" dirty="0"/>
              <a:t> mutation </a:t>
            </a:r>
            <a:r>
              <a:rPr lang="en-US" dirty="0" err="1"/>
              <a:t>testingu</a:t>
            </a:r>
            <a:br>
              <a:rPr lang="en-US" dirty="0"/>
            </a:br>
            <a:r>
              <a:rPr lang="en-US" dirty="0"/>
              <a:t>(t. j. </a:t>
            </a:r>
            <a:r>
              <a:rPr lang="en-US" dirty="0" err="1"/>
              <a:t>ktoré</a:t>
            </a:r>
            <a:r>
              <a:rPr lang="en-US" dirty="0"/>
              <a:t> testy </a:t>
            </a:r>
            <a:r>
              <a:rPr lang="en-US" dirty="0" err="1"/>
              <a:t>nedokázali</a:t>
            </a:r>
            <a:r>
              <a:rPr lang="en-US" dirty="0"/>
              <a:t> </a:t>
            </a:r>
            <a:r>
              <a:rPr lang="en-US" dirty="0" err="1"/>
              <a:t>zabiť</a:t>
            </a:r>
            <a:r>
              <a:rPr lang="en-US" dirty="0"/>
              <a:t> </a:t>
            </a:r>
            <a:r>
              <a:rPr lang="en-US" dirty="0" err="1"/>
              <a:t>mutantov</a:t>
            </a:r>
            <a:r>
              <a:rPr lang="en-US" dirty="0"/>
              <a:t>).</a:t>
            </a:r>
          </a:p>
          <a:p>
            <a:r>
              <a:rPr lang="en-US" dirty="0" err="1"/>
              <a:t>Pretože</a:t>
            </a:r>
            <a:r>
              <a:rPr lang="en-US" dirty="0"/>
              <a:t>:</a:t>
            </a:r>
          </a:p>
          <a:p>
            <a:r>
              <a:rPr lang="en-US" dirty="0" err="1"/>
              <a:t>Chcem</a:t>
            </a:r>
            <a:r>
              <a:rPr lang="en-US" dirty="0"/>
              <a:t> </a:t>
            </a:r>
            <a:r>
              <a:rPr lang="en-US" dirty="0" err="1"/>
              <a:t>zlepšiť</a:t>
            </a:r>
            <a:r>
              <a:rPr lang="en-US" dirty="0"/>
              <a:t> testy a </a:t>
            </a:r>
            <a:r>
              <a:rPr lang="en-US" dirty="0" err="1"/>
              <a:t>odhaliť</a:t>
            </a:r>
            <a:r>
              <a:rPr lang="en-US" dirty="0"/>
              <a:t> </a:t>
            </a:r>
            <a:r>
              <a:rPr lang="en-US" dirty="0" err="1"/>
              <a:t>možné</a:t>
            </a:r>
            <a:r>
              <a:rPr lang="en-US" dirty="0"/>
              <a:t> </a:t>
            </a:r>
            <a:r>
              <a:rPr lang="en-US" dirty="0" err="1"/>
              <a:t>bugy</a:t>
            </a:r>
            <a:r>
              <a:rPr lang="en-US" dirty="0"/>
              <a:t>.</a:t>
            </a:r>
            <a:endParaRPr lang="sk-S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7C4BD3-E9AE-7D64-D335-5FC1A0E1944D}"/>
              </a:ext>
            </a:extLst>
          </p:cNvPr>
          <p:cNvSpPr txBox="1"/>
          <p:nvPr/>
        </p:nvSpPr>
        <p:spPr>
          <a:xfrm>
            <a:off x="10787062" y="0"/>
            <a:ext cx="1404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Jozef Blaško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8563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4D9FCF-7C55-FC03-364E-9F8D8CA1E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Výsledky </a:t>
            </a:r>
            <a:r>
              <a:rPr lang="sk-SK" err="1"/>
              <a:t>cosmic-ray</a:t>
            </a:r>
            <a:r>
              <a:rPr lang="sk-SK"/>
              <a:t> testu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05AA1F1-FD33-257C-912F-DE4C277F0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k-SK" dirty="0"/>
              <a:t>Použije sa .html dokument</a:t>
            </a:r>
          </a:p>
          <a:p>
            <a:r>
              <a:rPr lang="sk-SK" dirty="0"/>
              <a:t>Obsahuje zoznam všetkých spustených mutantov</a:t>
            </a:r>
          </a:p>
          <a:p>
            <a:r>
              <a:rPr lang="sk-SK" dirty="0"/>
              <a:t>Keď </a:t>
            </a:r>
            <a:r>
              <a:rPr lang="sk-SK" dirty="0" err="1"/>
              <a:t>mutant</a:t>
            </a:r>
            <a:r>
              <a:rPr lang="sk-SK" dirty="0"/>
              <a:t> prežil, znamená to že to test nezachytil (tzn. </a:t>
            </a:r>
            <a:r>
              <a:rPr lang="sk-SK" dirty="0" err="1"/>
              <a:t>surviving</a:t>
            </a:r>
            <a:r>
              <a:rPr lang="sk-SK" dirty="0"/>
              <a:t> </a:t>
            </a:r>
            <a:r>
              <a:rPr lang="sk-SK" dirty="0" err="1"/>
              <a:t>mutant</a:t>
            </a:r>
            <a:r>
              <a:rPr lang="sk-SK" dirty="0"/>
              <a:t>)</a:t>
            </a:r>
          </a:p>
          <a:p>
            <a:r>
              <a:rPr lang="sk-SK" dirty="0"/>
              <a:t>Na základe toho vieme vylepšiť existujúce testy, poprípade pridať nový, tak aby pri ďalšom testovaní neprežil</a:t>
            </a:r>
          </a:p>
          <a:p>
            <a:r>
              <a:rPr lang="sk-SK" dirty="0"/>
              <a:t>Čím menej </a:t>
            </a:r>
            <a:r>
              <a:rPr lang="sk-SK" dirty="0" err="1"/>
              <a:t>surviving</a:t>
            </a:r>
            <a:r>
              <a:rPr lang="sk-SK" dirty="0"/>
              <a:t> </a:t>
            </a:r>
            <a:r>
              <a:rPr lang="sk-SK" dirty="0" err="1"/>
              <a:t>mutants</a:t>
            </a:r>
            <a:r>
              <a:rPr lang="sk-SK" dirty="0"/>
              <a:t>, tým lepšie test </a:t>
            </a:r>
            <a:r>
              <a:rPr lang="sk-SK" dirty="0" err="1"/>
              <a:t>coverage</a:t>
            </a:r>
            <a:endParaRPr lang="sk-S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2643D8-6DD7-3202-BBD2-047A9C730405}"/>
              </a:ext>
            </a:extLst>
          </p:cNvPr>
          <p:cNvSpPr txBox="1"/>
          <p:nvPr/>
        </p:nvSpPr>
        <p:spPr>
          <a:xfrm>
            <a:off x="10787062" y="0"/>
            <a:ext cx="1404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Jozef Blaško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8394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4FE1F80-892F-D4CB-38E6-CEA5087D8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sk-SK" dirty="0">
              <a:ea typeface="+mn-lt"/>
              <a:cs typeface="+mn-lt"/>
            </a:endParaRPr>
          </a:p>
          <a:p>
            <a:endParaRPr lang="sk-SK"/>
          </a:p>
        </p:txBody>
      </p:sp>
      <p:pic>
        <p:nvPicPr>
          <p:cNvPr id="2" name="Obrázok 1" descr="Obrázok, na ktorom je text, snímka obrazovky, displej, písmo&#10;&#10;Obsah vygenerovaný pomocou AI môže byť nesprávny.">
            <a:extLst>
              <a:ext uri="{FF2B5EF4-FFF2-40B4-BE49-F238E27FC236}">
                <a16:creationId xmlns:a16="http://schemas.microsoft.com/office/drawing/2014/main" id="{82657A7E-3052-3727-D1A4-97D9FBEC2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76" y="1103802"/>
            <a:ext cx="11550893" cy="47207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EBB4CF-6C31-2007-0BAC-C410F6461E69}"/>
              </a:ext>
            </a:extLst>
          </p:cNvPr>
          <p:cNvSpPr txBox="1"/>
          <p:nvPr/>
        </p:nvSpPr>
        <p:spPr>
          <a:xfrm>
            <a:off x="10787062" y="0"/>
            <a:ext cx="1404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Jozef Blaško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203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8F7059-D4FC-111D-5C46-F829DAEBC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k-SK" dirty="0"/>
              <a:t>Prepojenie s ostatnými časťami projektu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EFE586-9A84-2E1D-8249-F2A89E4E20EA}"/>
              </a:ext>
            </a:extLst>
          </p:cNvPr>
          <p:cNvSpPr txBox="1"/>
          <p:nvPr/>
        </p:nvSpPr>
        <p:spPr>
          <a:xfrm>
            <a:off x="10787062" y="0"/>
            <a:ext cx="1404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Jozef Blaško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7662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004574-FFB4-CAB8-B3D8-9BED318D9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Custom</a:t>
            </a:r>
            <a:r>
              <a:rPr lang="sk-SK" dirty="0"/>
              <a:t> </a:t>
            </a:r>
            <a:r>
              <a:rPr lang="sk-SK" dirty="0" err="1"/>
              <a:t>mutator</a:t>
            </a:r>
            <a:r>
              <a:rPr lang="sk-SK" dirty="0"/>
              <a:t> </a:t>
            </a:r>
            <a:r>
              <a:rPr lang="sk-SK" dirty="0" err="1"/>
              <a:t>integration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D8ED86E-9E0C-6BEA-6FBF-583D1E058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k-SK" dirty="0"/>
              <a:t>Projekt môže síce mať 100% skóre pre default </a:t>
            </a:r>
            <a:r>
              <a:rPr lang="sk-SK" dirty="0" err="1"/>
              <a:t>mutators</a:t>
            </a:r>
            <a:endParaRPr lang="sk-SK" dirty="0"/>
          </a:p>
          <a:p>
            <a:r>
              <a:rPr lang="sk-SK" dirty="0" err="1"/>
              <a:t>Custom</a:t>
            </a:r>
            <a:r>
              <a:rPr lang="sk-SK" dirty="0"/>
              <a:t> </a:t>
            </a:r>
            <a:r>
              <a:rPr lang="sk-SK" dirty="0" err="1"/>
              <a:t>mutators</a:t>
            </a:r>
            <a:r>
              <a:rPr lang="sk-SK" dirty="0"/>
              <a:t> však môžu byť veľmi špecifické, atypické alebo konkrétne pre daný projekt</a:t>
            </a:r>
          </a:p>
          <a:p>
            <a:r>
              <a:rPr lang="sk-SK" dirty="0"/>
              <a:t>Vďaka tomu vieme nájsť chyby v testoch, ktoré doteraz nikto ani neskúsil</a:t>
            </a:r>
          </a:p>
          <a:p>
            <a:endParaRPr lang="sk-SK" dirty="0"/>
          </a:p>
          <a:p>
            <a:pPr marL="0" indent="0">
              <a:buNone/>
            </a:pPr>
            <a:r>
              <a:rPr lang="sk-SK" sz="4400" dirty="0" err="1">
                <a:latin typeface="Aptos Display"/>
              </a:rPr>
              <a:t>Mutation</a:t>
            </a:r>
            <a:r>
              <a:rPr lang="sk-SK" sz="4400" dirty="0">
                <a:latin typeface="Aptos Display"/>
              </a:rPr>
              <a:t> test </a:t>
            </a:r>
            <a:r>
              <a:rPr lang="sk-SK" sz="4400" dirty="0" err="1">
                <a:latin typeface="Aptos Display"/>
              </a:rPr>
              <a:t>evaluation</a:t>
            </a:r>
            <a:endParaRPr lang="sk-SK" sz="4400" dirty="0">
              <a:latin typeface="Aptos Display"/>
            </a:endParaRPr>
          </a:p>
          <a:p>
            <a:endParaRPr lang="sk-S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589173-0886-6E03-2586-FCAD93E304EC}"/>
              </a:ext>
            </a:extLst>
          </p:cNvPr>
          <p:cNvSpPr txBox="1"/>
          <p:nvPr/>
        </p:nvSpPr>
        <p:spPr>
          <a:xfrm>
            <a:off x="10787062" y="0"/>
            <a:ext cx="1404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Jozef Blaško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45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09" name="Rectangle 3108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932E03-B4C5-0927-AE1C-0097DBC72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Ďakujeme za pozornosť</a:t>
            </a:r>
          </a:p>
        </p:txBody>
      </p:sp>
      <p:sp>
        <p:nvSpPr>
          <p:cNvPr id="3111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oo Code · GitHub">
            <a:extLst>
              <a:ext uri="{FF2B5EF4-FFF2-40B4-BE49-F238E27FC236}">
                <a16:creationId xmlns:a16="http://schemas.microsoft.com/office/drawing/2014/main" id="{E38C145C-9BFF-3E0D-A694-1EB9B574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1679" y="2619784"/>
            <a:ext cx="3600041" cy="3600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9,700+ Mutation Icon Stock Illustrations, Royalty-Free ...">
            <a:extLst>
              <a:ext uri="{FF2B5EF4-FFF2-40B4-BE49-F238E27FC236}">
                <a16:creationId xmlns:a16="http://schemas.microsoft.com/office/drawing/2014/main" id="{3CC1A652-B2D5-1375-BA65-D66D3B7A6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95979" y="2619784"/>
            <a:ext cx="3600041" cy="3600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83F182-DA0A-EB47-181F-E90191CF6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208" y="3047250"/>
            <a:ext cx="3758184" cy="274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030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1417</Words>
  <Application>Microsoft Office PowerPoint</Application>
  <PresentationFormat>Widescreen</PresentationFormat>
  <Paragraphs>336</Paragraphs>
  <Slides>36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Courier New,monospace</vt:lpstr>
      <vt:lpstr>Office Theme</vt:lpstr>
      <vt:lpstr>Mutation-based Testing</vt:lpstr>
      <vt:lpstr>Mutation Testing</vt:lpstr>
      <vt:lpstr>Ciele projektu</vt:lpstr>
      <vt:lpstr>PowerPoint Presentation</vt:lpstr>
      <vt:lpstr>Bug odhalený pomocou Mutation Testing-u</vt:lpstr>
      <vt:lpstr>Použitie RooCode v mutation-testingu</vt:lpstr>
      <vt:lpstr>Use Case – Targeted Mutation Testing</vt:lpstr>
      <vt:lpstr>PowerPoint Presentation</vt:lpstr>
      <vt:lpstr>Skrytie „skipped“ mutácií v HTML reporte</vt:lpstr>
      <vt:lpstr>Ako používateľ  chcem otestovať vybraný repozitár nástrojom Cosmic Ray v izolovanom git submodule,  aby som mohol bezpečne spúšťať mutačné testy  bez zásahu do hlavného projektu</vt:lpstr>
      <vt:lpstr>PowerPoint Presentation</vt:lpstr>
      <vt:lpstr>Limitácia cosmic-ray-nezobrazuje kontext chyby (function_name) - Implementácia</vt:lpstr>
      <vt:lpstr>1. Prístup – Externý skript</vt:lpstr>
      <vt:lpstr>Rozšírená databáza + HTML report</vt:lpstr>
      <vt:lpstr>Distribúcia a Automatizácia</vt:lpstr>
      <vt:lpstr>User stories</vt:lpstr>
      <vt:lpstr>Implementované custom mutátory</vt:lpstr>
      <vt:lpstr>Výhody custom mutátorov</vt:lpstr>
      <vt:lpstr>PowerPoint Presentation</vt:lpstr>
      <vt:lpstr>Použitie AI</vt:lpstr>
      <vt:lpstr>PowerPoint Presentation</vt:lpstr>
      <vt:lpstr>Výsledky</vt:lpstr>
      <vt:lpstr>Zhrnutie</vt:lpstr>
      <vt:lpstr>User story</vt:lpstr>
      <vt:lpstr>Použitie AI na implementáciu User story</vt:lpstr>
      <vt:lpstr>Use case 04 - Evaluate Mutation Tests</vt:lpstr>
      <vt:lpstr>Use-Case 04.2 - Generate and Interpret Mutation testing Results</vt:lpstr>
      <vt:lpstr>AI výstup</vt:lpstr>
      <vt:lpstr>Prínos</vt:lpstr>
      <vt:lpstr>Help with fixes / additions  to existing tests  (using AI)</vt:lpstr>
      <vt:lpstr>User stories</vt:lpstr>
      <vt:lpstr>Výsledky cosmic-ray testu</vt:lpstr>
      <vt:lpstr>PowerPoint Presentation</vt:lpstr>
      <vt:lpstr>Prepojenie s ostatnými časťami projektu</vt:lpstr>
      <vt:lpstr>Custom mutator integration</vt:lpstr>
      <vt:lpstr>Ďakujeme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Ondrej Babinský</dc:creator>
  <cp:lastModifiedBy>Ondrej Babinský</cp:lastModifiedBy>
  <cp:revision>11</cp:revision>
  <dcterms:created xsi:type="dcterms:W3CDTF">2026-01-19T16:18:22Z</dcterms:created>
  <dcterms:modified xsi:type="dcterms:W3CDTF">2026-01-21T20:54:39Z</dcterms:modified>
</cp:coreProperties>
</file>