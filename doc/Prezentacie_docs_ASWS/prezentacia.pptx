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slideMaster6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2.xml.rels" ContentType="application/vnd.openxmlformats-package.relationships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_rels/presentation.xml.rels" ContentType="application/vnd.openxmlformats-package.relationships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0.xml.rels" ContentType="application/vnd.openxmlformats-package.relationships+xml"/>
  <Override PartName="/ppt/slides/_rels/slide21.xml.rels" ContentType="application/vnd.openxmlformats-package.relationships+xml"/>
  <Override PartName="/ppt/slides/_rels/slide22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sk-SK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sk-SK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sk-SK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sk-SK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sk-SK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sk-SK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6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22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23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sk-SK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sk-SK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0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5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6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7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sk-SK" sz="3200" spc="-1" strike="noStrike"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sk-SK" sz="3200" spc="-1" strike="noStrike"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85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89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3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0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1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5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6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7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8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sk-SK" sz="3200" spc="-1" strike="noStrike"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sk-SK" sz="3200" spc="-1" strike="noStrike"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27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1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5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2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3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7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8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9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50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/>
          <a:p>
            <a:pPr algn="ctr">
              <a:lnSpc>
                <a:spcPct val="90000"/>
              </a:lnSpc>
            </a:pPr>
            <a:r>
              <a:rPr b="0" lang="sk-SK" sz="6000" spc="-1" strike="noStrike">
                <a:solidFill>
                  <a:srgbClr val="000000"/>
                </a:solidFill>
                <a:latin typeface="Aptos Display"/>
              </a:rPr>
              <a:t>Upravte štýly predlohy textu</a:t>
            </a:r>
            <a:endParaRPr b="0" lang="sk-SK" sz="60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/>
          <a:p>
            <a:pPr>
              <a:lnSpc>
                <a:spcPct val="100000"/>
              </a:lnSpc>
            </a:pPr>
            <a:fld id="{7511D582-2A49-4113-B2C7-B6C419D21F4E}" type="datetime">
              <a:rPr b="0" lang="sk-SK" sz="1200" spc="-1" strike="noStrike">
                <a:solidFill>
                  <a:srgbClr val="787878"/>
                </a:solidFill>
                <a:latin typeface="Aptos"/>
              </a:rPr>
              <a:t>28. 5. 2026</a:t>
            </a:fld>
            <a:endParaRPr b="0" lang="sk-SK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/>
          <a:p>
            <a:endParaRPr b="0" lang="sk-SK" sz="2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/>
          <a:p>
            <a:pPr algn="r">
              <a:lnSpc>
                <a:spcPct val="100000"/>
              </a:lnSpc>
            </a:pPr>
            <a:fld id="{E4B779A8-866A-4C39-8024-61CF13FA37DE}" type="slidenum">
              <a:rPr b="0" lang="sk-SK" sz="1200" spc="-1" strike="noStrike">
                <a:solidFill>
                  <a:srgbClr val="787878"/>
                </a:solidFill>
                <a:latin typeface="Aptos"/>
              </a:rPr>
              <a:t>&lt;číslo&gt;</a:t>
            </a:fld>
            <a:endParaRPr b="0" lang="sk-SK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sk-SK" sz="2800" spc="-1" strike="noStrike">
                <a:solidFill>
                  <a:srgbClr val="000000"/>
                </a:solidFill>
                <a:latin typeface="Aptos"/>
              </a:rPr>
              <a:t>Kliknúť na úpravu formátu textu osnovy</a:t>
            </a:r>
            <a:endParaRPr b="0" lang="sk-SK" sz="2800" spc="-1" strike="noStrike">
              <a:solidFill>
                <a:srgbClr val="000000"/>
              </a:solidFill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sk-SK" sz="2000" spc="-1" strike="noStrike">
                <a:solidFill>
                  <a:srgbClr val="000000"/>
                </a:solidFill>
                <a:latin typeface="Aptos"/>
              </a:rPr>
              <a:t>Druhá úroveň</a:t>
            </a:r>
            <a:endParaRPr b="0" lang="sk-SK" sz="2000" spc="-1" strike="noStrike">
              <a:solidFill>
                <a:srgbClr val="000000"/>
              </a:solidFill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sk-SK" sz="1800" spc="-1" strike="noStrike">
                <a:solidFill>
                  <a:srgbClr val="000000"/>
                </a:solidFill>
                <a:latin typeface="Aptos"/>
              </a:rPr>
              <a:t>Tretia úroveň</a:t>
            </a:r>
            <a:endParaRPr b="0" lang="sk-SK" sz="1800" spc="-1" strike="noStrike">
              <a:solidFill>
                <a:srgbClr val="000000"/>
              </a:solidFill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sk-SK" sz="1800" spc="-1" strike="noStrike">
                <a:solidFill>
                  <a:srgbClr val="000000"/>
                </a:solidFill>
                <a:latin typeface="Aptos"/>
              </a:rPr>
              <a:t>Štvrtá úroveň osnovy</a:t>
            </a:r>
            <a:endParaRPr b="0" lang="sk-SK" sz="1800" spc="-1" strike="noStrike">
              <a:solidFill>
                <a:srgbClr val="000000"/>
              </a:solidFill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sk-SK" sz="2000" spc="-1" strike="noStrike">
                <a:solidFill>
                  <a:srgbClr val="000000"/>
                </a:solidFill>
                <a:latin typeface="Aptos"/>
              </a:rPr>
              <a:t>Piata úroveň osnovy</a:t>
            </a:r>
            <a:endParaRPr b="0" lang="sk-SK" sz="2000" spc="-1" strike="noStrike">
              <a:solidFill>
                <a:srgbClr val="000000"/>
              </a:solidFill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sk-SK" sz="2000" spc="-1" strike="noStrike">
                <a:solidFill>
                  <a:srgbClr val="000000"/>
                </a:solidFill>
                <a:latin typeface="Aptos"/>
              </a:rPr>
              <a:t>Šiesta úroveň</a:t>
            </a:r>
            <a:endParaRPr b="0" lang="sk-SK" sz="2000" spc="-1" strike="noStrike">
              <a:solidFill>
                <a:srgbClr val="000000"/>
              </a:solidFill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sk-SK" sz="2000" spc="-1" strike="noStrike">
                <a:solidFill>
                  <a:srgbClr val="000000"/>
                </a:solidFill>
                <a:latin typeface="Aptos"/>
              </a:rPr>
              <a:t>Siedma úroveň</a:t>
            </a:r>
            <a:endParaRPr b="0" lang="sk-SK" sz="20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anchor="ctr"/>
          <a:p>
            <a:pPr>
              <a:lnSpc>
                <a:spcPct val="90000"/>
              </a:lnSpc>
            </a:pPr>
            <a:r>
              <a:rPr b="0" lang="sk-SK" sz="4400" spc="-1" strike="noStrike">
                <a:solidFill>
                  <a:srgbClr val="000000"/>
                </a:solidFill>
                <a:latin typeface="Aptos Display"/>
              </a:rPr>
              <a:t>Upravte štýly predlohy textu</a:t>
            </a:r>
            <a:endParaRPr b="0" lang="sk-SK" sz="4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sk-SK" sz="2800" spc="-1" strike="noStrike">
                <a:solidFill>
                  <a:srgbClr val="000000"/>
                </a:solidFill>
                <a:latin typeface="Aptos"/>
              </a:rPr>
              <a:t>Upravte štýl predlohy textu.</a:t>
            </a:r>
            <a:endParaRPr b="0" lang="sk-SK" sz="2800" spc="-1" strike="noStrike">
              <a:solidFill>
                <a:srgbClr val="000000"/>
              </a:solidFill>
              <a:latin typeface="Aptos"/>
            </a:endParaRPr>
          </a:p>
          <a:p>
            <a:pPr lvl="1" marL="6858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sk-SK" sz="2400" spc="-1" strike="noStrike">
                <a:solidFill>
                  <a:srgbClr val="000000"/>
                </a:solidFill>
                <a:latin typeface="Aptos"/>
              </a:rPr>
              <a:t>Druhá úroveň</a:t>
            </a:r>
            <a:endParaRPr b="0" lang="sk-SK" sz="2400" spc="-1" strike="noStrike">
              <a:solidFill>
                <a:srgbClr val="000000"/>
              </a:solidFill>
              <a:latin typeface="Aptos"/>
            </a:endParaRPr>
          </a:p>
          <a:p>
            <a:pPr lvl="2" marL="11430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sk-SK" sz="2000" spc="-1" strike="noStrike">
                <a:solidFill>
                  <a:srgbClr val="000000"/>
                </a:solidFill>
                <a:latin typeface="Aptos"/>
              </a:rPr>
              <a:t>Tretia úroveň</a:t>
            </a:r>
            <a:endParaRPr b="0" lang="sk-SK" sz="2000" spc="-1" strike="noStrike">
              <a:solidFill>
                <a:srgbClr val="000000"/>
              </a:solidFill>
              <a:latin typeface="Aptos"/>
            </a:endParaRPr>
          </a:p>
          <a:p>
            <a:pPr lvl="3" marL="16002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sk-SK" sz="1800" spc="-1" strike="noStrike">
                <a:solidFill>
                  <a:srgbClr val="000000"/>
                </a:solidFill>
                <a:latin typeface="Aptos"/>
              </a:rPr>
              <a:t>Štvrtá úroveň</a:t>
            </a:r>
            <a:endParaRPr b="0" lang="sk-SK" sz="1800" spc="-1" strike="noStrike">
              <a:solidFill>
                <a:srgbClr val="000000"/>
              </a:solidFill>
              <a:latin typeface="Aptos"/>
            </a:endParaRPr>
          </a:p>
          <a:p>
            <a:pPr lvl="4" marL="20574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sk-SK" sz="1800" spc="-1" strike="noStrike">
                <a:solidFill>
                  <a:srgbClr val="000000"/>
                </a:solidFill>
                <a:latin typeface="Aptos"/>
              </a:rPr>
              <a:t>Piata úroveň</a:t>
            </a:r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/>
          <a:p>
            <a:pPr>
              <a:lnSpc>
                <a:spcPct val="100000"/>
              </a:lnSpc>
            </a:pPr>
            <a:fld id="{D096194C-8E5C-4DC9-B2DD-0B9BFCC13DA3}" type="datetime">
              <a:rPr b="0" lang="sk-SK" sz="1200" spc="-1" strike="noStrike">
                <a:solidFill>
                  <a:srgbClr val="787878"/>
                </a:solidFill>
                <a:latin typeface="Aptos"/>
              </a:rPr>
              <a:t>28. 5. 2026</a:t>
            </a:fld>
            <a:endParaRPr b="0" lang="sk-SK" sz="12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/>
          <a:p>
            <a:endParaRPr b="0" lang="sk-SK" sz="2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/>
          <a:p>
            <a:pPr algn="r">
              <a:lnSpc>
                <a:spcPct val="100000"/>
              </a:lnSpc>
            </a:pPr>
            <a:fld id="{910B3DF7-91C9-4750-BCF5-CA2EAAAB3AF3}" type="slidenum">
              <a:rPr b="0" lang="sk-SK" sz="1200" spc="-1" strike="noStrike">
                <a:solidFill>
                  <a:srgbClr val="787878"/>
                </a:solidFill>
                <a:latin typeface="Aptos"/>
              </a:rPr>
              <a:t>1</a:t>
            </a:fld>
            <a:endParaRPr b="0" lang="sk-SK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</p:spPr>
        <p:txBody>
          <a:bodyPr anchor="b"/>
          <a:p>
            <a:pPr>
              <a:lnSpc>
                <a:spcPct val="90000"/>
              </a:lnSpc>
            </a:pPr>
            <a:r>
              <a:rPr b="0" lang="sk-SK" sz="3200" spc="-1" strike="noStrike">
                <a:solidFill>
                  <a:srgbClr val="000000"/>
                </a:solidFill>
                <a:latin typeface="Aptos Display"/>
              </a:rPr>
              <a:t>Upravte štýly predlohy textu</a:t>
            </a:r>
            <a:endParaRPr b="0" lang="sk-SK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</p:spPr>
        <p:txBody>
          <a:bodyPr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sk-SK" sz="3200" spc="-1" strike="noStrike">
                <a:solidFill>
                  <a:srgbClr val="000000"/>
                </a:solidFill>
                <a:latin typeface="Aptos"/>
              </a:rPr>
              <a:t>Upravte štýl predlohy textu.</a:t>
            </a:r>
            <a:endParaRPr b="0" lang="sk-SK" sz="3200" spc="-1" strike="noStrike">
              <a:solidFill>
                <a:srgbClr val="000000"/>
              </a:solidFill>
              <a:latin typeface="Aptos"/>
            </a:endParaRPr>
          </a:p>
          <a:p>
            <a:pPr lvl="1" marL="6858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sk-SK" sz="2800" spc="-1" strike="noStrike">
                <a:solidFill>
                  <a:srgbClr val="000000"/>
                </a:solidFill>
                <a:latin typeface="Aptos"/>
              </a:rPr>
              <a:t>Druhá úroveň</a:t>
            </a:r>
            <a:endParaRPr b="0" lang="sk-SK" sz="2800" spc="-1" strike="noStrike">
              <a:solidFill>
                <a:srgbClr val="000000"/>
              </a:solidFill>
              <a:latin typeface="Aptos"/>
            </a:endParaRPr>
          </a:p>
          <a:p>
            <a:pPr lvl="2" marL="11430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sk-SK" sz="2400" spc="-1" strike="noStrike">
                <a:solidFill>
                  <a:srgbClr val="000000"/>
                </a:solidFill>
                <a:latin typeface="Aptos"/>
              </a:rPr>
              <a:t>Tretia úroveň</a:t>
            </a:r>
            <a:endParaRPr b="0" lang="sk-SK" sz="2400" spc="-1" strike="noStrike">
              <a:solidFill>
                <a:srgbClr val="000000"/>
              </a:solidFill>
              <a:latin typeface="Aptos"/>
            </a:endParaRPr>
          </a:p>
          <a:p>
            <a:pPr lvl="3" marL="16002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sk-SK" sz="2000" spc="-1" strike="noStrike">
                <a:solidFill>
                  <a:srgbClr val="000000"/>
                </a:solidFill>
                <a:latin typeface="Aptos"/>
              </a:rPr>
              <a:t>Štvrtá úroveň</a:t>
            </a:r>
            <a:endParaRPr b="0" lang="sk-SK" sz="2000" spc="-1" strike="noStrike">
              <a:solidFill>
                <a:srgbClr val="000000"/>
              </a:solidFill>
              <a:latin typeface="Aptos"/>
            </a:endParaRPr>
          </a:p>
          <a:p>
            <a:pPr lvl="4" marL="20574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sk-SK" sz="2000" spc="-1" strike="noStrike">
                <a:solidFill>
                  <a:srgbClr val="000000"/>
                </a:solidFill>
                <a:latin typeface="Aptos"/>
              </a:rPr>
              <a:t>Piata úroveň</a:t>
            </a:r>
            <a:endParaRPr b="0" lang="sk-SK" sz="20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</p:spPr>
        <p:txBody>
          <a:bodyPr/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0" lang="sk-SK" sz="1600" spc="-1" strike="noStrike">
                <a:solidFill>
                  <a:srgbClr val="000000"/>
                </a:solidFill>
                <a:latin typeface="Aptos"/>
              </a:rPr>
              <a:t>Upravte štýl predlohy textu.</a:t>
            </a:r>
            <a:endParaRPr b="0" lang="sk-SK" sz="16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/>
          <a:p>
            <a:pPr>
              <a:lnSpc>
                <a:spcPct val="100000"/>
              </a:lnSpc>
            </a:pPr>
            <a:fld id="{24848E36-E525-4AB0-A8C9-1DB15370AA67}" type="datetime">
              <a:rPr b="0" lang="sk-SK" sz="1200" spc="-1" strike="noStrike">
                <a:solidFill>
                  <a:srgbClr val="787878"/>
                </a:solidFill>
                <a:latin typeface="Aptos"/>
              </a:rPr>
              <a:t>28. 5. 2026</a:t>
            </a:fld>
            <a:endParaRPr b="0" lang="sk-SK" sz="1200" spc="-1" strike="noStrike"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/>
          <a:p>
            <a:endParaRPr b="0" lang="sk-SK" sz="2400" spc="-1" strike="noStrike">
              <a:latin typeface="Times New Roman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/>
          <a:p>
            <a:pPr algn="r">
              <a:lnSpc>
                <a:spcPct val="100000"/>
              </a:lnSpc>
            </a:pPr>
            <a:fld id="{98A87F7F-0C72-409E-80D6-04FC74A42C8F}" type="slidenum">
              <a:rPr b="0" lang="sk-SK" sz="1200" spc="-1" strike="noStrike">
                <a:solidFill>
                  <a:srgbClr val="787878"/>
                </a:solidFill>
                <a:latin typeface="Aptos"/>
              </a:rPr>
              <a:t>1</a:t>
            </a:fld>
            <a:endParaRPr b="0" lang="sk-SK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</p:spPr>
        <p:txBody>
          <a:bodyPr anchor="ctr"/>
          <a:p>
            <a:pPr>
              <a:lnSpc>
                <a:spcPct val="90000"/>
              </a:lnSpc>
            </a:pPr>
            <a:r>
              <a:rPr b="0" lang="sk-SK" sz="4400" spc="-1" strike="noStrike">
                <a:solidFill>
                  <a:srgbClr val="000000"/>
                </a:solidFill>
                <a:latin typeface="Aptos Display"/>
              </a:rPr>
              <a:t>Upravte štýly predlohy textu</a:t>
            </a:r>
            <a:endParaRPr b="0" lang="sk-SK" sz="4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</p:spPr>
        <p:txBody>
          <a:bodyPr anchor="b"/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1" lang="sk-SK" sz="2400" spc="-1" strike="noStrike">
                <a:solidFill>
                  <a:srgbClr val="000000"/>
                </a:solidFill>
                <a:latin typeface="Aptos"/>
              </a:rPr>
              <a:t>Upravte štýl predlohy textu.</a:t>
            </a:r>
            <a:endParaRPr b="0" lang="sk-SK" sz="2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</p:spPr>
        <p:txBody>
          <a:bodyPr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sk-SK" sz="2800" spc="-1" strike="noStrike">
                <a:solidFill>
                  <a:srgbClr val="000000"/>
                </a:solidFill>
                <a:latin typeface="Aptos"/>
              </a:rPr>
              <a:t>Upravte štýl predlohy textu.</a:t>
            </a:r>
            <a:endParaRPr b="0" lang="sk-SK" sz="2800" spc="-1" strike="noStrike">
              <a:solidFill>
                <a:srgbClr val="000000"/>
              </a:solidFill>
              <a:latin typeface="Aptos"/>
            </a:endParaRPr>
          </a:p>
          <a:p>
            <a:pPr lvl="1" marL="6858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sk-SK" sz="2400" spc="-1" strike="noStrike">
                <a:solidFill>
                  <a:srgbClr val="000000"/>
                </a:solidFill>
                <a:latin typeface="Aptos"/>
              </a:rPr>
              <a:t>Druhá úroveň</a:t>
            </a:r>
            <a:endParaRPr b="0" lang="sk-SK" sz="2400" spc="-1" strike="noStrike">
              <a:solidFill>
                <a:srgbClr val="000000"/>
              </a:solidFill>
              <a:latin typeface="Aptos"/>
            </a:endParaRPr>
          </a:p>
          <a:p>
            <a:pPr lvl="2" marL="11430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sk-SK" sz="2000" spc="-1" strike="noStrike">
                <a:solidFill>
                  <a:srgbClr val="000000"/>
                </a:solidFill>
                <a:latin typeface="Aptos"/>
              </a:rPr>
              <a:t>Tretia úroveň</a:t>
            </a:r>
            <a:endParaRPr b="0" lang="sk-SK" sz="2000" spc="-1" strike="noStrike">
              <a:solidFill>
                <a:srgbClr val="000000"/>
              </a:solidFill>
              <a:latin typeface="Aptos"/>
            </a:endParaRPr>
          </a:p>
          <a:p>
            <a:pPr lvl="3" marL="16002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sk-SK" sz="1800" spc="-1" strike="noStrike">
                <a:solidFill>
                  <a:srgbClr val="000000"/>
                </a:solidFill>
                <a:latin typeface="Aptos"/>
              </a:rPr>
              <a:t>Štvrtá úroveň</a:t>
            </a:r>
            <a:endParaRPr b="0" lang="sk-SK" sz="1800" spc="-1" strike="noStrike">
              <a:solidFill>
                <a:srgbClr val="000000"/>
              </a:solidFill>
              <a:latin typeface="Aptos"/>
            </a:endParaRPr>
          </a:p>
          <a:p>
            <a:pPr lvl="4" marL="20574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sk-SK" sz="1800" spc="-1" strike="noStrike">
                <a:solidFill>
                  <a:srgbClr val="000000"/>
                </a:solidFill>
                <a:latin typeface="Aptos"/>
              </a:rPr>
              <a:t>Piata úroveň</a:t>
            </a:r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27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</p:spPr>
        <p:txBody>
          <a:bodyPr anchor="b"/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1" lang="sk-SK" sz="2400" spc="-1" strike="noStrike">
                <a:solidFill>
                  <a:srgbClr val="000000"/>
                </a:solidFill>
                <a:latin typeface="Aptos"/>
              </a:rPr>
              <a:t>Upravte štýl predlohy textu.</a:t>
            </a:r>
            <a:endParaRPr b="0" lang="sk-SK" sz="2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28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</p:spPr>
        <p:txBody>
          <a:bodyPr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sk-SK" sz="2800" spc="-1" strike="noStrike">
                <a:solidFill>
                  <a:srgbClr val="000000"/>
                </a:solidFill>
                <a:latin typeface="Aptos"/>
              </a:rPr>
              <a:t>Upravte štýl predlohy textu.</a:t>
            </a:r>
            <a:endParaRPr b="0" lang="sk-SK" sz="2800" spc="-1" strike="noStrike">
              <a:solidFill>
                <a:srgbClr val="000000"/>
              </a:solidFill>
              <a:latin typeface="Aptos"/>
            </a:endParaRPr>
          </a:p>
          <a:p>
            <a:pPr lvl="1" marL="6858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sk-SK" sz="2400" spc="-1" strike="noStrike">
                <a:solidFill>
                  <a:srgbClr val="000000"/>
                </a:solidFill>
                <a:latin typeface="Aptos"/>
              </a:rPr>
              <a:t>Druhá úroveň</a:t>
            </a:r>
            <a:endParaRPr b="0" lang="sk-SK" sz="2400" spc="-1" strike="noStrike">
              <a:solidFill>
                <a:srgbClr val="000000"/>
              </a:solidFill>
              <a:latin typeface="Aptos"/>
            </a:endParaRPr>
          </a:p>
          <a:p>
            <a:pPr lvl="2" marL="11430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sk-SK" sz="2000" spc="-1" strike="noStrike">
                <a:solidFill>
                  <a:srgbClr val="000000"/>
                </a:solidFill>
                <a:latin typeface="Aptos"/>
              </a:rPr>
              <a:t>Tretia úroveň</a:t>
            </a:r>
            <a:endParaRPr b="0" lang="sk-SK" sz="2000" spc="-1" strike="noStrike">
              <a:solidFill>
                <a:srgbClr val="000000"/>
              </a:solidFill>
              <a:latin typeface="Aptos"/>
            </a:endParaRPr>
          </a:p>
          <a:p>
            <a:pPr lvl="3" marL="16002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sk-SK" sz="1800" spc="-1" strike="noStrike">
                <a:solidFill>
                  <a:srgbClr val="000000"/>
                </a:solidFill>
                <a:latin typeface="Aptos"/>
              </a:rPr>
              <a:t>Štvrtá úroveň</a:t>
            </a:r>
            <a:endParaRPr b="0" lang="sk-SK" sz="1800" spc="-1" strike="noStrike">
              <a:solidFill>
                <a:srgbClr val="000000"/>
              </a:solidFill>
              <a:latin typeface="Aptos"/>
            </a:endParaRPr>
          </a:p>
          <a:p>
            <a:pPr lvl="4" marL="20574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sk-SK" sz="1800" spc="-1" strike="noStrike">
                <a:solidFill>
                  <a:srgbClr val="000000"/>
                </a:solidFill>
                <a:latin typeface="Aptos"/>
              </a:rPr>
              <a:t>Piata úroveň</a:t>
            </a:r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29" name="PlaceHolder 6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/>
          <a:p>
            <a:pPr>
              <a:lnSpc>
                <a:spcPct val="100000"/>
              </a:lnSpc>
            </a:pPr>
            <a:fld id="{0F281870-9966-4C7A-966D-3666238BA06A}" type="datetime">
              <a:rPr b="0" lang="sk-SK" sz="1200" spc="-1" strike="noStrike">
                <a:solidFill>
                  <a:srgbClr val="787878"/>
                </a:solidFill>
                <a:latin typeface="Aptos"/>
              </a:rPr>
              <a:t>28. 5. 2026</a:t>
            </a:fld>
            <a:endParaRPr b="0" lang="sk-SK" sz="1200" spc="-1" strike="noStrike">
              <a:latin typeface="Times New Roman"/>
            </a:endParaRPr>
          </a:p>
        </p:txBody>
      </p:sp>
      <p:sp>
        <p:nvSpPr>
          <p:cNvPr id="130" name="PlaceHolder 7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/>
          <a:p>
            <a:endParaRPr b="0" lang="sk-SK" sz="2400" spc="-1" strike="noStrike">
              <a:latin typeface="Times New Roman"/>
            </a:endParaRPr>
          </a:p>
        </p:txBody>
      </p:sp>
      <p:sp>
        <p:nvSpPr>
          <p:cNvPr id="131" name="PlaceHolder 8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/>
          <a:p>
            <a:pPr algn="r">
              <a:lnSpc>
                <a:spcPct val="100000"/>
              </a:lnSpc>
            </a:pPr>
            <a:fld id="{CA4B69F7-D448-4917-AADB-E642375CBAB9}" type="slidenum">
              <a:rPr b="0" lang="sk-SK" sz="1200" spc="-1" strike="noStrike">
                <a:solidFill>
                  <a:srgbClr val="787878"/>
                </a:solidFill>
                <a:latin typeface="Aptos"/>
              </a:rPr>
              <a:t>1</a:t>
            </a:fld>
            <a:endParaRPr b="0" lang="sk-SK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</p:spPr>
        <p:txBody>
          <a:bodyPr anchor="b"/>
          <a:p>
            <a:pPr>
              <a:lnSpc>
                <a:spcPct val="90000"/>
              </a:lnSpc>
            </a:pPr>
            <a:r>
              <a:rPr b="0" lang="sk-SK" sz="6000" spc="-1" strike="noStrike">
                <a:solidFill>
                  <a:srgbClr val="000000"/>
                </a:solidFill>
                <a:latin typeface="Aptos Display"/>
              </a:rPr>
              <a:t>Upravte štýly predlohy textu</a:t>
            </a:r>
            <a:endParaRPr b="0" lang="sk-SK" sz="60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</p:spPr>
        <p:txBody>
          <a:bodyPr/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0" lang="sk-SK" sz="2400" spc="-1" strike="noStrike">
                <a:solidFill>
                  <a:srgbClr val="787878"/>
                </a:solidFill>
                <a:latin typeface="Aptos"/>
              </a:rPr>
              <a:t>Upravte štýl predlohy textu.</a:t>
            </a:r>
            <a:endParaRPr b="0" lang="sk-SK" sz="2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/>
          <a:p>
            <a:pPr>
              <a:lnSpc>
                <a:spcPct val="100000"/>
              </a:lnSpc>
            </a:pPr>
            <a:fld id="{ACEDFF09-5739-4421-919B-E25AD39B245A}" type="datetime">
              <a:rPr b="0" lang="sk-SK" sz="1200" spc="-1" strike="noStrike">
                <a:solidFill>
                  <a:srgbClr val="787878"/>
                </a:solidFill>
                <a:latin typeface="Aptos"/>
              </a:rPr>
              <a:t>28. 5. 2026</a:t>
            </a:fld>
            <a:endParaRPr b="0" lang="sk-SK" sz="1200" spc="-1" strike="noStrike">
              <a:latin typeface="Times New Roman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/>
          <a:p>
            <a:endParaRPr b="0" lang="sk-SK" sz="2400" spc="-1" strike="noStrike">
              <a:latin typeface="Times New Roman"/>
            </a:endParaRPr>
          </a:p>
        </p:txBody>
      </p:sp>
      <p:sp>
        <p:nvSpPr>
          <p:cNvPr id="172" name="PlaceHolder 5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/>
          <a:p>
            <a:pPr algn="r">
              <a:lnSpc>
                <a:spcPct val="100000"/>
              </a:lnSpc>
            </a:pPr>
            <a:fld id="{B9B6FF6D-4544-498E-A572-869DF4AC2283}" type="slidenum">
              <a:rPr b="0" lang="sk-SK" sz="1200" spc="-1" strike="noStrike">
                <a:solidFill>
                  <a:srgbClr val="787878"/>
                </a:solidFill>
                <a:latin typeface="Aptos"/>
              </a:rPr>
              <a:t>1</a:t>
            </a:fld>
            <a:endParaRPr b="0" lang="sk-SK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</p:spPr>
        <p:txBody>
          <a:bodyPr anchor="b"/>
          <a:p>
            <a:pPr>
              <a:lnSpc>
                <a:spcPct val="90000"/>
              </a:lnSpc>
            </a:pPr>
            <a:r>
              <a:rPr b="0" lang="sk-SK" sz="3200" spc="-1" strike="noStrike">
                <a:solidFill>
                  <a:srgbClr val="000000"/>
                </a:solidFill>
                <a:latin typeface="Aptos Display"/>
              </a:rPr>
              <a:t>Upravte štýly predlohy textu</a:t>
            </a:r>
            <a:endParaRPr b="0" lang="sk-SK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</p:spPr>
        <p:txBody>
          <a:bodyPr lIns="90000" rIns="90000" tIns="45000" bIns="45000"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sk-SK" sz="3200" spc="-1" strike="noStrike">
                <a:solidFill>
                  <a:srgbClr val="000000"/>
                </a:solidFill>
                <a:latin typeface="Aptos"/>
              </a:rPr>
              <a:t>Kliknúť na úpravu formátu textu osnovy</a:t>
            </a:r>
            <a:endParaRPr b="0" lang="sk-SK" sz="3200" spc="-1" strike="noStrike">
              <a:solidFill>
                <a:srgbClr val="000000"/>
              </a:solidFill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sk-SK" sz="3200" spc="-1" strike="noStrike">
                <a:solidFill>
                  <a:srgbClr val="000000"/>
                </a:solidFill>
                <a:latin typeface="Aptos"/>
              </a:rPr>
              <a:t>Druhá úroveň</a:t>
            </a:r>
            <a:endParaRPr b="0" lang="sk-SK" sz="3200" spc="-1" strike="noStrike">
              <a:solidFill>
                <a:srgbClr val="000000"/>
              </a:solidFill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sk-SK" sz="3200" spc="-1" strike="noStrike">
                <a:solidFill>
                  <a:srgbClr val="000000"/>
                </a:solidFill>
                <a:latin typeface="Aptos"/>
              </a:rPr>
              <a:t>Tretia úroveň</a:t>
            </a:r>
            <a:endParaRPr b="0" lang="sk-SK" sz="3200" spc="-1" strike="noStrike">
              <a:solidFill>
                <a:srgbClr val="000000"/>
              </a:solidFill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sk-SK" sz="3200" spc="-1" strike="noStrike">
                <a:solidFill>
                  <a:srgbClr val="000000"/>
                </a:solidFill>
                <a:latin typeface="Aptos"/>
              </a:rPr>
              <a:t>Štvrtá úroveň osnovy</a:t>
            </a:r>
            <a:endParaRPr b="0" lang="sk-SK" sz="3200" spc="-1" strike="noStrike">
              <a:solidFill>
                <a:srgbClr val="000000"/>
              </a:solidFill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sk-SK" sz="3200" spc="-1" strike="noStrike">
                <a:solidFill>
                  <a:srgbClr val="000000"/>
                </a:solidFill>
                <a:latin typeface="Aptos"/>
              </a:rPr>
              <a:t>Piata úroveň osnovy</a:t>
            </a:r>
            <a:endParaRPr b="0" lang="sk-SK" sz="3200" spc="-1" strike="noStrike">
              <a:solidFill>
                <a:srgbClr val="000000"/>
              </a:solidFill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sk-SK" sz="3200" spc="-1" strike="noStrike">
                <a:solidFill>
                  <a:srgbClr val="000000"/>
                </a:solidFill>
                <a:latin typeface="Aptos"/>
              </a:rPr>
              <a:t>Šiesta úroveň</a:t>
            </a:r>
            <a:endParaRPr b="0" lang="sk-SK" sz="3200" spc="-1" strike="noStrike">
              <a:solidFill>
                <a:srgbClr val="000000"/>
              </a:solidFill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sk-SK" sz="3200" spc="-1" strike="noStrike">
                <a:solidFill>
                  <a:srgbClr val="000000"/>
                </a:solidFill>
                <a:latin typeface="Aptos"/>
              </a:rPr>
              <a:t>Siedma úroveň</a:t>
            </a:r>
            <a:endParaRPr b="0" lang="sk-SK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</p:spPr>
        <p:txBody>
          <a:bodyPr/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0" lang="sk-SK" sz="1600" spc="-1" strike="noStrike">
                <a:solidFill>
                  <a:srgbClr val="000000"/>
                </a:solidFill>
                <a:latin typeface="Aptos"/>
              </a:rPr>
              <a:t>Upravte štýl predlohy textu.</a:t>
            </a:r>
            <a:endParaRPr b="0" lang="sk-SK" sz="16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12" name="PlaceHolder 4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/>
          <a:p>
            <a:pPr>
              <a:lnSpc>
                <a:spcPct val="100000"/>
              </a:lnSpc>
            </a:pPr>
            <a:fld id="{55676E74-FFF8-448D-85F1-961D53BD4381}" type="datetime">
              <a:rPr b="0" lang="sk-SK" sz="1200" spc="-1" strike="noStrike">
                <a:solidFill>
                  <a:srgbClr val="787878"/>
                </a:solidFill>
                <a:latin typeface="Aptos"/>
              </a:rPr>
              <a:t>28. 5. 2026</a:t>
            </a:fld>
            <a:endParaRPr b="0" lang="sk-SK" sz="1200" spc="-1" strike="noStrike">
              <a:latin typeface="Times New Roman"/>
            </a:endParaRPr>
          </a:p>
        </p:txBody>
      </p:sp>
      <p:sp>
        <p:nvSpPr>
          <p:cNvPr id="213" name="PlaceHolder 5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/>
          <a:p>
            <a:endParaRPr b="0" lang="sk-SK" sz="2400" spc="-1" strike="noStrike">
              <a:latin typeface="Times New Roman"/>
            </a:endParaRPr>
          </a:p>
        </p:txBody>
      </p:sp>
      <p:sp>
        <p:nvSpPr>
          <p:cNvPr id="214" name="PlaceHolder 6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/>
          <a:p>
            <a:pPr algn="r">
              <a:lnSpc>
                <a:spcPct val="100000"/>
              </a:lnSpc>
            </a:pPr>
            <a:fld id="{C055C721-8AD8-4A7A-832B-58C2A6F90B45}" type="slidenum">
              <a:rPr b="0" lang="sk-SK" sz="1200" spc="-1" strike="noStrike">
                <a:solidFill>
                  <a:srgbClr val="787878"/>
                </a:solidFill>
                <a:latin typeface="Aptos"/>
              </a:rPr>
              <a:t>1</a:t>
            </a:fld>
            <a:endParaRPr b="0" lang="sk-SK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hyperlink" Target="https://www.tusharma.in/smells/SLCC.html" TargetMode="Externa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6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TextShape 1"/>
          <p:cNvSpPr txBox="1"/>
          <p:nvPr/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52" name="TextShape 2"/>
          <p:cNvSpPr txBox="1"/>
          <p:nvPr/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algn="ctr"/>
            <a:endParaRPr b="0" lang="sk-SK" sz="3200" spc="-1" strike="noStrike"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54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/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p:timing>
    <p:tnLst>
      <p:par>
        <p:cTn id="3" dur="indefinite" restart="never" nodeType="tmRoot">
          <p:childTnLst>
            <p:seq>
              <p:cTn id="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>
              <a:lnSpc>
                <a:spcPct val="90000"/>
              </a:lnSpc>
            </a:pPr>
            <a:r>
              <a:rPr b="0" lang="sk-SK" sz="4400" spc="-1" strike="noStrike">
                <a:solidFill>
                  <a:srgbClr val="000000"/>
                </a:solidFill>
                <a:latin typeface="Aptos Display"/>
              </a:rPr>
              <a:t>How to target mutations - existujúce riešenia</a:t>
            </a:r>
            <a:endParaRPr b="0" lang="sk-SK" sz="4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56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sk-SK" sz="2800" spc="-1" strike="noStrike">
                <a:solidFill>
                  <a:srgbClr val="000000"/>
                </a:solidFill>
                <a:latin typeface="Aptos"/>
              </a:rPr>
              <a:t>Pragma</a:t>
            </a:r>
            <a:endParaRPr b="0" lang="sk-SK" sz="2800" spc="-1" strike="noStrike">
              <a:solidFill>
                <a:srgbClr val="000000"/>
              </a:solidFill>
              <a:latin typeface="Aptos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sk-SK" sz="2800" spc="-1" strike="noStrike">
                <a:solidFill>
                  <a:srgbClr val="000000"/>
                </a:solidFill>
                <a:latin typeface="Aptos"/>
              </a:rPr>
              <a:t>Filtrovanie v Cosmic Ray DB</a:t>
            </a:r>
            <a:endParaRPr b="0" lang="sk-SK" sz="2800" spc="-1" strike="noStrike">
              <a:solidFill>
                <a:srgbClr val="000000"/>
              </a:solidFill>
              <a:latin typeface="Aptos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sk-SK" sz="2800" spc="-1" strike="noStrike">
                <a:solidFill>
                  <a:srgbClr val="000000"/>
                </a:solidFill>
                <a:latin typeface="Aptos"/>
              </a:rPr>
              <a:t>Zameranie sa na 1 .py file</a:t>
            </a:r>
            <a:endParaRPr b="0" lang="sk-SK" sz="2800" spc="-1" strike="noStrike">
              <a:solidFill>
                <a:srgbClr val="000000"/>
              </a:solidFill>
              <a:latin typeface="Aptos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sk-SK" sz="2800" spc="-1" strike="noStrike">
                <a:solidFill>
                  <a:srgbClr val="000000"/>
                </a:solidFill>
                <a:latin typeface="Aptos"/>
              </a:rPr>
              <a:t>Target Only changed</a:t>
            </a:r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p:timing>
    <p:tnLst>
      <p:par>
        <p:cTn id="5" dur="indefinite" restart="never" nodeType="tmRoot">
          <p:childTnLst>
            <p:seq>
              <p:cTn id="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TextShape 1"/>
          <p:cNvSpPr txBox="1"/>
          <p:nvPr/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90000"/>
              </a:lnSpc>
            </a:pPr>
            <a:r>
              <a:rPr b="0" lang="sk-SK" sz="3200" spc="-1" strike="noStrike">
                <a:solidFill>
                  <a:srgbClr val="000000"/>
                </a:solidFill>
                <a:latin typeface="Aptos Display"/>
              </a:rPr>
              <a:t>Pragma</a:t>
            </a:r>
            <a:endParaRPr b="0" lang="sk-SK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58" name="TextShape 2"/>
          <p:cNvSpPr txBox="1"/>
          <p:nvPr/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Char char="-"/>
            </a:pPr>
            <a:r>
              <a:rPr b="0" lang="sk-SK" sz="1600" spc="-1" strike="noStrike">
                <a:solidFill>
                  <a:srgbClr val="000000"/>
                </a:solidFill>
                <a:latin typeface="Aptos"/>
              </a:rPr>
              <a:t>Momentálne možné prikázať nemutovať riadok komentárom</a:t>
            </a:r>
            <a:endParaRPr b="0" lang="sk-SK" sz="1600" spc="-1" strike="noStrike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0" lang="sk-SK" sz="1600" spc="-1" strike="noStrike">
                <a:solidFill>
                  <a:srgbClr val="000000"/>
                </a:solidFill>
                <a:latin typeface="Aptos"/>
              </a:rPr>
              <a:t> </a:t>
            </a:r>
            <a:r>
              <a:rPr b="0" lang="sk-SK" sz="1600" spc="-1" strike="noStrike">
                <a:solidFill>
                  <a:srgbClr val="000000"/>
                </a:solidFill>
                <a:latin typeface="Aptos"/>
              </a:rPr>
              <a:t>#pragma no mutate</a:t>
            </a:r>
            <a:endParaRPr b="0" lang="sk-SK" sz="1600" spc="-1" strike="noStrike">
              <a:solidFill>
                <a:srgbClr val="000000"/>
              </a:solidFill>
              <a:latin typeface="Aptos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Char char="-"/>
            </a:pPr>
            <a:r>
              <a:rPr b="0" lang="sk-SK" sz="1600" spc="-1" strike="noStrike">
                <a:solidFill>
                  <a:srgbClr val="000000"/>
                </a:solidFill>
                <a:latin typeface="Aptos"/>
              </a:rPr>
              <a:t>To je umožnené riadkom 35 v súbore </a:t>
            </a:r>
            <a:r>
              <a:rPr b="0" lang="sk-SK" sz="1600" spc="-1" strike="noStrike">
                <a:solidFill>
                  <a:srgbClr val="000000"/>
                </a:solidFill>
                <a:latin typeface="Aptos"/>
                <a:ea typeface="Aptos"/>
              </a:rPr>
              <a:t>pragma_no_mutate.py</a:t>
            </a:r>
            <a:endParaRPr b="0" lang="sk-SK" sz="1600" spc="-1" strike="noStrike">
              <a:solidFill>
                <a:srgbClr val="000000"/>
              </a:solidFill>
              <a:latin typeface="Aptos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Char char="-"/>
            </a:pPr>
            <a:r>
              <a:rPr b="0" lang="sk-SK" sz="1600" spc="-1" strike="noStrike">
                <a:solidFill>
                  <a:srgbClr val="000000"/>
                </a:solidFill>
                <a:latin typeface="Aptos"/>
                <a:ea typeface="Aptos"/>
              </a:rPr>
              <a:t>Bolo by jednoduché zmeniť to tak aby mutoval iba riadky s iným komentárom,</a:t>
            </a:r>
            <a:endParaRPr b="0" lang="sk-SK" sz="1600" spc="-1" strike="noStrike">
              <a:solidFill>
                <a:srgbClr val="000000"/>
              </a:solidFill>
              <a:latin typeface="Aptos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Char char="-"/>
            </a:pPr>
            <a:r>
              <a:rPr b="0" lang="sk-SK" sz="1600" spc="-1" strike="noStrike">
                <a:solidFill>
                  <a:srgbClr val="000000"/>
                </a:solidFill>
                <a:latin typeface="Aptos"/>
                <a:ea typeface="Aptos"/>
              </a:rPr>
              <a:t>Porípade aj tzn, block pragma</a:t>
            </a:r>
            <a:endParaRPr b="0" lang="sk-SK" sz="1600" spc="-1" strike="noStrike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sk-SK" sz="1600" spc="-1" strike="noStrike">
              <a:solidFill>
                <a:srgbClr val="000000"/>
              </a:solidFill>
              <a:latin typeface="Aptos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Char char="-"/>
            </a:pPr>
            <a:r>
              <a:rPr b="0" lang="sk-SK" sz="1600" spc="-1" strike="noStrike">
                <a:solidFill>
                  <a:srgbClr val="000000"/>
                </a:solidFill>
                <a:latin typeface="Aptos"/>
                <a:ea typeface="Aptos"/>
              </a:rPr>
              <a:t>Stále by ale bolo nutné zasahovať do kódu pred mutáciou</a:t>
            </a:r>
            <a:endParaRPr b="0" lang="sk-SK" sz="1600" spc="-1" strike="noStrike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259" name="" descr=""/>
          <p:cNvPicPr/>
          <p:nvPr/>
        </p:nvPicPr>
        <p:blipFill>
          <a:blip r:embed="rId1"/>
          <a:stretch/>
        </p:blipFill>
        <p:spPr>
          <a:xfrm>
            <a:off x="5472000" y="1736280"/>
            <a:ext cx="6114600" cy="34477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7" dur="indefinite" restart="never" nodeType="tmRoot">
          <p:childTnLst>
            <p:seq>
              <p:cTn id="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TextShape 1"/>
          <p:cNvSpPr txBox="1"/>
          <p:nvPr/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90000"/>
              </a:lnSpc>
            </a:pPr>
            <a:r>
              <a:rPr b="0" lang="sk-SK" sz="3200" spc="-1" strike="noStrike">
                <a:solidFill>
                  <a:srgbClr val="000000"/>
                </a:solidFill>
                <a:latin typeface="Aptos Display"/>
              </a:rPr>
              <a:t>Filtrovanie v databáze</a:t>
            </a:r>
            <a:endParaRPr b="0" lang="sk-SK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61" name="TextShape 2"/>
          <p:cNvSpPr txBox="1"/>
          <p:nvPr/>
        </p:nvSpPr>
        <p:spPr>
          <a:xfrm>
            <a:off x="5256000" y="1080000"/>
            <a:ext cx="6171840" cy="487332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sk-SK" sz="3200" spc="-1" strike="noStrike">
                <a:solidFill>
                  <a:srgbClr val="000000"/>
                </a:solidFill>
                <a:latin typeface="Bahnschrift SemiBold"/>
              </a:rPr>
              <a:t>Screenshot cosmic ray databazy otvorenej v nejakom Editore,</a:t>
            </a:r>
            <a:br/>
            <a:r>
              <a:rPr b="0" lang="sk-SK" sz="3200" spc="-1" strike="noStrike">
                <a:solidFill>
                  <a:srgbClr val="000000"/>
                </a:solidFill>
                <a:latin typeface="Bahnschrift SemiBold"/>
              </a:rPr>
              <a:t> </a:t>
            </a:r>
            <a:endParaRPr b="0" lang="sk-SK" sz="3200" spc="-1" strike="noStrike">
              <a:solidFill>
                <a:srgbClr val="000000"/>
              </a:solidFill>
              <a:latin typeface="Bahnschrift SemiBold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sk-SK" sz="3200" spc="-1" strike="noStrike">
                <a:solidFill>
                  <a:srgbClr val="000000"/>
                </a:solidFill>
                <a:latin typeface="Bahnschrift SemiBold"/>
              </a:rPr>
              <a:t>Niekde myslím aj nejakú mám</a:t>
            </a:r>
            <a:endParaRPr b="0" lang="sk-SK" sz="3200" spc="-1" strike="noStrike">
              <a:solidFill>
                <a:srgbClr val="000000"/>
              </a:solidFill>
              <a:latin typeface="Bahnschrift SemiBold"/>
            </a:endParaRPr>
          </a:p>
        </p:txBody>
      </p:sp>
      <p:sp>
        <p:nvSpPr>
          <p:cNvPr id="262" name="TextShape 3"/>
          <p:cNvSpPr txBox="1"/>
          <p:nvPr/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</a:pPr>
            <a:endParaRPr b="0" lang="sk-SK" sz="2800" spc="-1" strike="noStrike">
              <a:solidFill>
                <a:srgbClr val="000000"/>
              </a:solidFill>
              <a:latin typeface="Aptos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Char char="-"/>
            </a:pPr>
            <a:r>
              <a:rPr b="0" lang="sk-SK" sz="1600" spc="-1" strike="noStrike">
                <a:solidFill>
                  <a:srgbClr val="000000"/>
                </a:solidFill>
                <a:latin typeface="Aptos"/>
              </a:rPr>
              <a:t>Je možné pozrieť sa na (sql) databázu všetkých možných mutácií ktoré Cosmic-Ray navrhol</a:t>
            </a:r>
            <a:endParaRPr b="0" lang="sk-SK" sz="1600" spc="-1" strike="noStrike">
              <a:solidFill>
                <a:srgbClr val="000000"/>
              </a:solidFill>
              <a:latin typeface="Aptos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Char char="-"/>
            </a:pPr>
            <a:r>
              <a:rPr b="0" lang="sk-SK" sz="1600" spc="-1" strike="noStrike">
                <a:solidFill>
                  <a:srgbClr val="000000"/>
                </a:solidFill>
                <a:latin typeface="Aptos"/>
              </a:rPr>
              <a:t>V nej by sa dali proste odstrániť nechcené mutácie</a:t>
            </a:r>
            <a:endParaRPr b="0" lang="sk-SK" sz="1600" spc="-1" strike="noStrike">
              <a:solidFill>
                <a:srgbClr val="000000"/>
              </a:solidFill>
              <a:latin typeface="Aptos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Char char="-"/>
            </a:pPr>
            <a:r>
              <a:rPr b="0" lang="sk-SK" sz="1600" spc="-1" strike="noStrike">
                <a:solidFill>
                  <a:srgbClr val="000000"/>
                </a:solidFill>
                <a:latin typeface="Aptos"/>
              </a:rPr>
              <a:t>Väčšina prostriedkov je však vlastne vynaložená na tvorbu tejto DB</a:t>
            </a:r>
            <a:endParaRPr b="0" lang="sk-SK" sz="1600" spc="-1" strike="noStrike">
              <a:solidFill>
                <a:srgbClr val="000000"/>
              </a:solidFill>
              <a:latin typeface="Aptos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Char char="-"/>
            </a:pPr>
            <a:r>
              <a:rPr b="0" lang="sk-SK" sz="1600" spc="-1" strike="noStrike">
                <a:solidFill>
                  <a:srgbClr val="000000"/>
                </a:solidFill>
                <a:latin typeface="Aptos"/>
              </a:rPr>
              <a:t>Nechcené mutácie sa dajú odfiltrovať aj cez config</a:t>
            </a:r>
            <a:endParaRPr b="0" lang="sk-SK" sz="1600" spc="-1" strike="noStrike">
              <a:solidFill>
                <a:srgbClr val="000000"/>
              </a:solidFill>
              <a:latin typeface="Aptos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Char char="-"/>
            </a:pPr>
            <a:r>
              <a:rPr b="0" lang="sk-SK" sz="1600" spc="-1" strike="noStrike">
                <a:solidFill>
                  <a:srgbClr val="000000"/>
                </a:solidFill>
                <a:latin typeface="Aptos"/>
              </a:rPr>
              <a:t>Preto by sme na tom prakticky nič neušetrily</a:t>
            </a:r>
            <a:endParaRPr b="0" lang="sk-SK" sz="16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p:timing>
    <p:tnLst>
      <p:par>
        <p:cTn id="9" dur="indefinite" restart="never" nodeType="tmRoot">
          <p:childTnLst>
            <p:seq>
              <p:cTn id="1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TextShape 1"/>
          <p:cNvSpPr txBox="1"/>
          <p:nvPr/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64" name="TextShape 2"/>
          <p:cNvSpPr txBox="1"/>
          <p:nvPr/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1" lang="sk-SK" sz="2400" spc="-1" strike="noStrike">
                <a:solidFill>
                  <a:srgbClr val="000000"/>
                </a:solidFill>
                <a:latin typeface="Aptos"/>
              </a:rPr>
              <a:t>Zameranie sa na zmeneý kód</a:t>
            </a:r>
            <a:endParaRPr b="0" lang="sk-SK" sz="2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65" name="TextShape 3"/>
          <p:cNvSpPr txBox="1"/>
          <p:nvPr/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sk-SK" sz="2800" spc="-1" strike="noStrike">
                <a:solidFill>
                  <a:srgbClr val="000000"/>
                </a:solidFill>
                <a:latin typeface="Aptos"/>
              </a:rPr>
              <a:t>Existuje možnosť zamerať celý Cosmic-Ray na iba to, čo sa zmenilo (posledný commit)</a:t>
            </a:r>
            <a:endParaRPr b="0" lang="sk-SK" sz="2800" spc="-1" strike="noStrike">
              <a:solidFill>
                <a:srgbClr val="000000"/>
              </a:solidFill>
              <a:latin typeface="Aptos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sk-SK" sz="2800" spc="-1" strike="noStrike">
                <a:solidFill>
                  <a:srgbClr val="000000"/>
                </a:solidFill>
                <a:latin typeface="Aptos"/>
              </a:rPr>
              <a:t>Nedá sa to ale nezávisle ovládať</a:t>
            </a:r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66" name="TextShape 4"/>
          <p:cNvSpPr txBox="1"/>
          <p:nvPr/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1" lang="sk-SK" sz="2400" spc="-1" strike="noStrike">
                <a:solidFill>
                  <a:srgbClr val="000000"/>
                </a:solidFill>
                <a:latin typeface="Aptos"/>
              </a:rPr>
              <a:t>Zameranie sa na 1 X.py</a:t>
            </a:r>
            <a:endParaRPr b="0" lang="sk-SK" sz="2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67" name="TextShape 5"/>
          <p:cNvSpPr txBox="1"/>
          <p:nvPr/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sk-SK" sz="2800" spc="-1" strike="noStrike">
                <a:solidFill>
                  <a:srgbClr val="000000"/>
                </a:solidFill>
                <a:latin typeface="Aptos"/>
              </a:rPr>
              <a:t>1 .py súbor je najmenšia časť na ktorú vieme Cosmic-Ray zamerať</a:t>
            </a:r>
            <a:endParaRPr b="0" lang="sk-SK" sz="2800" spc="-1" strike="noStrike">
              <a:solidFill>
                <a:srgbClr val="000000"/>
              </a:solidFill>
              <a:latin typeface="Aptos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sk-SK" sz="2800" spc="-1" strike="noStrike">
                <a:solidFill>
                  <a:srgbClr val="000000"/>
                </a:solidFill>
                <a:latin typeface="Aptos"/>
              </a:rPr>
              <a:t>Stále však nie dosť presné</a:t>
            </a:r>
            <a:endParaRPr b="0" lang="sk-SK" sz="2800" spc="-1" strike="noStrike">
              <a:solidFill>
                <a:srgbClr val="000000"/>
              </a:solidFill>
              <a:latin typeface="Aptos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sk-SK" sz="2800" spc="-1" strike="noStrike">
                <a:solidFill>
                  <a:srgbClr val="000000"/>
                </a:solidFill>
                <a:latin typeface="Aptos"/>
              </a:rPr>
              <a:t>Tvorba .py súboru z iba časti kódu by zbytočne zaberala prostriedky</a:t>
            </a:r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p:timing>
    <p:tnLst>
      <p:par>
        <p:cTn id="11" dur="indefinite" restart="never" nodeType="tmRoot">
          <p:childTnLst>
            <p:seq>
              <p:cTn id="1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>
              <a:lnSpc>
                <a:spcPct val="90000"/>
              </a:lnSpc>
            </a:pPr>
            <a:r>
              <a:rPr b="0" lang="sk-SK" sz="4400" spc="-1" strike="noStrike">
                <a:solidFill>
                  <a:srgbClr val="000000"/>
                </a:solidFill>
                <a:latin typeface="Aptos Display"/>
              </a:rPr>
              <a:t>Nové Riešenie - </a:t>
            </a:r>
            <a:endParaRPr b="0" lang="sk-SK" sz="4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69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sk-SK" sz="2800" spc="-1" strike="noStrike">
                <a:solidFill>
                  <a:srgbClr val="000000"/>
                </a:solidFill>
                <a:latin typeface="Aptos"/>
              </a:rPr>
              <a:t>Tu povedať o tom ako sme mi spravili tool na to ako zamerat mutation testing na 1 riadok... to ma niekto iny prezentaciu</a:t>
            </a:r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p:timing>
    <p:tnLst>
      <p:par>
        <p:cTn id="13" dur="indefinite" restart="never" nodeType="tmRoot">
          <p:childTnLst>
            <p:seq>
              <p:cTn id="1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TextShape 1"/>
          <p:cNvSpPr txBox="1"/>
          <p:nvPr/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90000"/>
              </a:lnSpc>
            </a:pPr>
            <a:r>
              <a:rPr b="0" lang="sk-SK" sz="6000" spc="-1" strike="noStrike">
                <a:solidFill>
                  <a:srgbClr val="000000"/>
                </a:solidFill>
                <a:latin typeface="Aptos Display"/>
              </a:rPr>
              <a:t>Code smell catalogues</a:t>
            </a:r>
            <a:endParaRPr b="0" lang="sk-SK" sz="60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71" name="TextShape 2"/>
          <p:cNvSpPr txBox="1"/>
          <p:nvPr/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343080" indent="-342720">
              <a:lnSpc>
                <a:spcPct val="90000"/>
              </a:lnSpc>
              <a:spcBef>
                <a:spcPts val="1001"/>
              </a:spcBef>
              <a:buClr>
                <a:srgbClr val="787878"/>
              </a:buClr>
              <a:buFont typeface="Calibri"/>
              <a:buChar char="-"/>
            </a:pPr>
            <a:r>
              <a:rPr b="0" lang="sk-SK" sz="2400" spc="-1" strike="noStrike">
                <a:solidFill>
                  <a:srgbClr val="787878"/>
                </a:solidFill>
                <a:latin typeface="Aptos"/>
              </a:rPr>
              <a:t>Zber zoznamov Code Smells</a:t>
            </a:r>
            <a:endParaRPr b="0" lang="sk-SK" sz="2400" spc="-1" strike="noStrike">
              <a:solidFill>
                <a:srgbClr val="000000"/>
              </a:solidFill>
              <a:latin typeface="Aptos"/>
            </a:endParaRPr>
          </a:p>
          <a:p>
            <a:pPr marL="343080" indent="-342720">
              <a:lnSpc>
                <a:spcPct val="90000"/>
              </a:lnSpc>
              <a:spcBef>
                <a:spcPts val="1001"/>
              </a:spcBef>
              <a:buClr>
                <a:srgbClr val="787878"/>
              </a:buClr>
              <a:buFont typeface="Calibri"/>
              <a:buChar char="-"/>
            </a:pPr>
            <a:endParaRPr b="0" lang="sk-SK" sz="24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p:timing>
    <p:tnLst>
      <p:par>
        <p:cTn id="15" dur="indefinite" restart="never" nodeType="tmRoot">
          <p:childTnLst>
            <p:seq>
              <p:cTn id="1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TextShape 1"/>
          <p:cNvSpPr txBox="1"/>
          <p:nvPr/>
        </p:nvSpPr>
        <p:spPr>
          <a:xfrm>
            <a:off x="839880" y="457200"/>
            <a:ext cx="3931920" cy="53496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90000"/>
              </a:lnSpc>
            </a:pPr>
            <a:r>
              <a:rPr b="0" lang="sk-SK" sz="3200" spc="-1" strike="noStrike">
                <a:solidFill>
                  <a:srgbClr val="000000"/>
                </a:solidFill>
                <a:latin typeface="Aptos Display"/>
              </a:rPr>
              <a:t>výsledok</a:t>
            </a:r>
            <a:endParaRPr b="0" lang="sk-SK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73" name="TextShape 2"/>
          <p:cNvSpPr txBox="1"/>
          <p:nvPr/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sk-SK" sz="3200" spc="-1" strike="noStrike">
                <a:solidFill>
                  <a:srgbClr val="000000"/>
                </a:solidFill>
                <a:latin typeface="Aptos"/>
              </a:rPr>
              <a:t>Screenshoty </a:t>
            </a:r>
            <a:endParaRPr b="0" lang="sk-SK" sz="3200" spc="-1" strike="noStrike">
              <a:solidFill>
                <a:srgbClr val="000000"/>
              </a:solidFill>
              <a:latin typeface="Aptos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sk-SK" sz="3200" spc="-1" strike="noStrike" u="sng">
                <a:solidFill>
                  <a:srgbClr val="467886"/>
                </a:solidFill>
                <a:uFillTx/>
                <a:latin typeface="Aptos"/>
                <a:ea typeface="Aptos"/>
                <a:hlinkClick r:id="rId1"/>
              </a:rPr>
              <a:t>https://www.tusharma.in/smells/SLCC.html</a:t>
            </a:r>
            <a:endParaRPr b="0" lang="sk-SK" sz="3200" spc="-1" strike="noStrike">
              <a:solidFill>
                <a:srgbClr val="000000"/>
              </a:solidFill>
              <a:latin typeface="Aptos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sk-SK" sz="3200" spc="-1" strike="noStrike">
                <a:solidFill>
                  <a:srgbClr val="000000"/>
                </a:solidFill>
                <a:latin typeface="Aptos"/>
                <a:ea typeface="Aptos"/>
              </a:rPr>
              <a:t>Alebo Refactoring.guru Screenshot</a:t>
            </a:r>
            <a:endParaRPr b="0" lang="sk-SK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74" name="TextShape 3"/>
          <p:cNvSpPr txBox="1"/>
          <p:nvPr/>
        </p:nvSpPr>
        <p:spPr>
          <a:xfrm>
            <a:off x="839880" y="1074960"/>
            <a:ext cx="3931920" cy="47844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Char char="-"/>
            </a:pPr>
            <a:r>
              <a:rPr b="0" lang="sk-SK" sz="1600" spc="-1" strike="noStrike">
                <a:solidFill>
                  <a:srgbClr val="000000"/>
                </a:solidFill>
                <a:latin typeface="Aptos"/>
              </a:rPr>
              <a:t>Zistené že Code Smells (CS) majú technicky neobmedzený počet, nie je to obmedzená množina</a:t>
            </a:r>
            <a:endParaRPr b="0" lang="sk-SK" sz="1600" spc="-1" strike="noStrike">
              <a:solidFill>
                <a:srgbClr val="000000"/>
              </a:solidFill>
              <a:latin typeface="Aptos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Char char="-"/>
            </a:pPr>
            <a:r>
              <a:rPr b="0" lang="sk-SK" sz="1600" spc="-1" strike="noStrike">
                <a:solidFill>
                  <a:srgbClr val="000000"/>
                </a:solidFill>
                <a:latin typeface="Aptos"/>
              </a:rPr>
              <a:t>Príklad - CS zamerané špecialne na to ako kód tvoria LLM, (</a:t>
            </a:r>
            <a:r>
              <a:rPr b="0" lang="sk-SK" sz="1600" spc="-1" strike="noStrike">
                <a:solidFill>
                  <a:srgbClr val="000000"/>
                </a:solidFill>
                <a:latin typeface="Aptos"/>
                <a:ea typeface="Aptos"/>
              </a:rPr>
              <a:t>arxiv.org/abs/2512.18020)</a:t>
            </a:r>
            <a:endParaRPr b="0" lang="sk-SK" sz="1600" spc="-1" strike="noStrike">
              <a:solidFill>
                <a:srgbClr val="000000"/>
              </a:solidFill>
              <a:latin typeface="Aptos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Char char="-"/>
            </a:pPr>
            <a:r>
              <a:rPr b="0" lang="sk-SK" sz="1600" spc="-1" strike="noStrike">
                <a:solidFill>
                  <a:srgbClr val="000000"/>
                </a:solidFill>
                <a:latin typeface="Aptos"/>
                <a:ea typeface="Aptos"/>
              </a:rPr>
              <a:t>Dalej zistené že pojem CS sa často používa príliš široko, napr. Na porušenie konvencií pri tvorbe Excel tabuliek</a:t>
            </a:r>
            <a:endParaRPr b="0" lang="sk-SK" sz="1600" spc="-1" strike="noStrike">
              <a:solidFill>
                <a:srgbClr val="000000"/>
              </a:solidFill>
              <a:latin typeface="Aptos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Char char="-"/>
            </a:pPr>
            <a:r>
              <a:rPr b="0" lang="sk-SK" sz="1600" spc="-1" strike="noStrike">
                <a:solidFill>
                  <a:srgbClr val="000000"/>
                </a:solidFill>
                <a:latin typeface="Aptos"/>
                <a:ea typeface="Aptos"/>
              </a:rPr>
              <a:t>V tomto projekte také vynecháme, zameriame na CS pre kód</a:t>
            </a:r>
            <a:endParaRPr b="0" lang="sk-SK" sz="1600" spc="-1" strike="noStrike">
              <a:solidFill>
                <a:srgbClr val="000000"/>
              </a:solidFill>
              <a:latin typeface="Aptos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Char char="-"/>
            </a:pPr>
            <a:r>
              <a:rPr b="0" lang="sk-SK" sz="1600" spc="-1" strike="noStrike">
                <a:solidFill>
                  <a:srgbClr val="000000"/>
                </a:solidFill>
                <a:latin typeface="Aptos"/>
                <a:ea typeface="Aptos"/>
              </a:rPr>
              <a:t>Pozbieraných viacore zoznamov code smells na 1 miesto</a:t>
            </a:r>
            <a:endParaRPr b="0" lang="sk-SK" sz="1600" spc="-1" strike="noStrike">
              <a:solidFill>
                <a:srgbClr val="000000"/>
              </a:solidFill>
              <a:latin typeface="Aptos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Char char="-"/>
            </a:pPr>
            <a:r>
              <a:rPr b="0" lang="sk-SK" sz="1600" spc="-1" strike="noStrike">
                <a:solidFill>
                  <a:srgbClr val="000000"/>
                </a:solidFill>
                <a:latin typeface="Aptos"/>
                <a:ea typeface="Aptos"/>
              </a:rPr>
              <a:t>Zoznam CS z REFACTORING.GURU zvolený ako základ</a:t>
            </a:r>
            <a:endParaRPr b="0" lang="sk-SK" sz="1600" spc="-1" strike="noStrike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275" name="" descr=""/>
          <p:cNvPicPr/>
          <p:nvPr/>
        </p:nvPicPr>
        <p:blipFill>
          <a:blip r:embed="rId2"/>
          <a:srcRect l="0" t="0" r="6891" b="0"/>
          <a:stretch/>
        </p:blipFill>
        <p:spPr>
          <a:xfrm>
            <a:off x="4794480" y="720000"/>
            <a:ext cx="7271640" cy="55623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7" dur="indefinite" restart="never" nodeType="tmRoot">
          <p:childTnLst>
            <p:seq>
              <p:cTn id="1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TextShape 1"/>
          <p:cNvSpPr txBox="1"/>
          <p:nvPr/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90000"/>
              </a:lnSpc>
            </a:pPr>
            <a:r>
              <a:rPr b="0" lang="sk-SK" sz="6000" spc="-1" strike="noStrike">
                <a:solidFill>
                  <a:srgbClr val="000000"/>
                </a:solidFill>
                <a:latin typeface="Aptos Display"/>
              </a:rPr>
              <a:t>MAP RULES TO CODE SMELLS</a:t>
            </a:r>
            <a:endParaRPr b="0" lang="sk-SK" sz="60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77" name="TextShape 2"/>
          <p:cNvSpPr txBox="1"/>
          <p:nvPr/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0" lang="sk-SK" sz="2400" spc="-1" strike="noStrike">
                <a:solidFill>
                  <a:srgbClr val="787878"/>
                </a:solidFill>
                <a:latin typeface="Aptos"/>
              </a:rPr>
              <a:t> </a:t>
            </a:r>
            <a:r>
              <a:rPr b="0" lang="sk-SK" sz="2400" spc="-1" strike="noStrike">
                <a:solidFill>
                  <a:srgbClr val="787878"/>
                </a:solidFill>
                <a:latin typeface="Aptos"/>
              </a:rPr>
              <a:t>ShellCheck SH123 --&gt; Dead code ….</a:t>
            </a:r>
            <a:endParaRPr b="0" lang="sk-SK" sz="24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p:timing>
    <p:tnLst>
      <p:par>
        <p:cTn id="19" dur="indefinite" restart="never" nodeType="tmRoot">
          <p:childTnLst>
            <p:seq>
              <p:cTn id="2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TextShape 1"/>
          <p:cNvSpPr txBox="1"/>
          <p:nvPr/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279" name="Zástupný objekt pre obrázok 2" descr=""/>
          <p:cNvPicPr/>
          <p:nvPr/>
        </p:nvPicPr>
        <p:blipFill>
          <a:blip r:embed="rId1"/>
          <a:stretch/>
        </p:blipFill>
        <p:spPr>
          <a:xfrm>
            <a:off x="5183280" y="987480"/>
            <a:ext cx="6171840" cy="4873320"/>
          </a:xfrm>
          <a:prstGeom prst="rect">
            <a:avLst/>
          </a:prstGeom>
          <a:ln>
            <a:noFill/>
          </a:ln>
        </p:spPr>
      </p:pic>
      <p:sp>
        <p:nvSpPr>
          <p:cNvPr id="280" name="TextShape 2"/>
          <p:cNvSpPr txBox="1"/>
          <p:nvPr/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Char char="-"/>
            </a:pPr>
            <a:r>
              <a:rPr b="0" lang="sk-SK" sz="1600" spc="-1" strike="noStrike">
                <a:solidFill>
                  <a:srgbClr val="000000"/>
                </a:solidFill>
                <a:latin typeface="Aptos"/>
              </a:rPr>
              <a:t>Výsledky nástrojov ako napr. Ruff alebo shellcheck (označené ako Rules, R)</a:t>
            </a:r>
            <a:endParaRPr b="0" lang="sk-SK" sz="1600" spc="-1" strike="noStrike">
              <a:solidFill>
                <a:srgbClr val="000000"/>
              </a:solidFill>
              <a:latin typeface="Aptos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Char char="-"/>
            </a:pPr>
            <a:r>
              <a:rPr b="0" lang="sk-SK" sz="1600" spc="-1" strike="noStrike">
                <a:solidFill>
                  <a:srgbClr val="000000"/>
                </a:solidFill>
                <a:latin typeface="Aptos"/>
              </a:rPr>
              <a:t>Použiť ic popis, podla neho mapovať na rôzne Code Smells,</a:t>
            </a:r>
            <a:endParaRPr b="0" lang="sk-SK" sz="1600" spc="-1" strike="noStrike">
              <a:solidFill>
                <a:srgbClr val="000000"/>
              </a:solidFill>
              <a:latin typeface="Aptos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Char char="-"/>
            </a:pPr>
            <a:r>
              <a:rPr b="0" lang="sk-SK" sz="1600" spc="-1" strike="noStrike">
                <a:solidFill>
                  <a:srgbClr val="000000"/>
                </a:solidFill>
                <a:latin typeface="Aptos"/>
              </a:rPr>
              <a:t>Napr. ERA001 na CS Comments</a:t>
            </a:r>
            <a:endParaRPr b="0" lang="sk-SK" sz="1600" spc="-1" strike="noStrike">
              <a:solidFill>
                <a:srgbClr val="000000"/>
              </a:solidFill>
              <a:latin typeface="Aptos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Char char="-"/>
            </a:pPr>
            <a:r>
              <a:rPr b="0" lang="sk-SK" sz="1600" spc="-1" strike="noStrike">
                <a:solidFill>
                  <a:srgbClr val="000000"/>
                </a:solidFill>
                <a:latin typeface="Aptos"/>
              </a:rPr>
              <a:t>Automatizované s využitím AI </a:t>
            </a:r>
            <a:br/>
            <a:r>
              <a:rPr b="0" lang="sk-SK" sz="1600" spc="-1" strike="noStrike">
                <a:solidFill>
                  <a:srgbClr val="000000"/>
                </a:solidFill>
                <a:latin typeface="Aptos"/>
              </a:rPr>
              <a:t>(nech to mapuje LLM)</a:t>
            </a:r>
            <a:endParaRPr b="0" lang="sk-SK" sz="1600" spc="-1" strike="noStrike">
              <a:solidFill>
                <a:srgbClr val="000000"/>
              </a:solidFill>
              <a:latin typeface="Aptos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Char char="-"/>
            </a:pPr>
            <a:r>
              <a:rPr b="0" lang="sk-SK" sz="1600" spc="-1" strike="noStrike">
                <a:solidFill>
                  <a:srgbClr val="000000"/>
                </a:solidFill>
                <a:latin typeface="Aptos"/>
              </a:rPr>
              <a:t>Pre to vytvorených viacero promptov</a:t>
            </a:r>
            <a:endParaRPr b="0" lang="sk-SK" sz="1600" spc="-1" strike="noStrike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sk-SK" sz="1600" spc="-1" strike="noStrike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sk-SK" sz="1600" spc="-1" strike="noStrike">
              <a:solidFill>
                <a:srgbClr val="000000"/>
              </a:solidFill>
              <a:latin typeface="Aptos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Char char="-"/>
            </a:pPr>
            <a:r>
              <a:rPr b="0" lang="sk-SK" sz="1600" spc="-1" strike="sngStrike">
                <a:solidFill>
                  <a:srgbClr val="000000"/>
                </a:solidFill>
                <a:latin typeface="Aptos"/>
              </a:rPr>
              <a:t>Obrazok dat asi screenshot tohto </a:t>
            </a:r>
            <a:r>
              <a:rPr b="0" lang="sk-SK" sz="1600" spc="-1" strike="sngStrike">
                <a:solidFill>
                  <a:srgbClr val="000000"/>
                </a:solidFill>
                <a:latin typeface="Aptos"/>
                <a:ea typeface="Aptos"/>
              </a:rPr>
              <a:t>https://docs.astral.sh/ruff/rules/commented-out-code/</a:t>
            </a:r>
            <a:endParaRPr b="0" lang="sk-SK" sz="1600" spc="-1" strike="noStrike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281" name="" descr=""/>
          <p:cNvPicPr/>
          <p:nvPr/>
        </p:nvPicPr>
        <p:blipFill>
          <a:blip r:embed="rId2"/>
          <a:stretch/>
        </p:blipFill>
        <p:spPr>
          <a:xfrm>
            <a:off x="5666400" y="1296000"/>
            <a:ext cx="5133600" cy="4086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1" dur="indefinite" restart="never" nodeType="tmRoot">
          <p:childTnLst>
            <p:seq>
              <p:cTn id="2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TextShape 1"/>
          <p:cNvSpPr txBox="1"/>
          <p:nvPr/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90000"/>
              </a:lnSpc>
            </a:pPr>
            <a:r>
              <a:rPr b="0" lang="sk-SK" sz="6000" spc="-1" strike="noStrike">
                <a:solidFill>
                  <a:srgbClr val="000000"/>
                </a:solidFill>
                <a:latin typeface="Aptos Display"/>
              </a:rPr>
              <a:t>PROMPTY A MAPOVANIE</a:t>
            </a:r>
            <a:endParaRPr b="0" lang="sk-SK" sz="60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83" name="TextShape 2"/>
          <p:cNvSpPr txBox="1"/>
          <p:nvPr/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p:timing>
    <p:tnLst>
      <p:par>
        <p:cTn id="23" dur="indefinite" restart="never" nodeType="tmRoot">
          <p:childTnLst>
            <p:seq>
              <p:cTn id="2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TextShape 1"/>
          <p:cNvSpPr txBox="1"/>
          <p:nvPr/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90000"/>
              </a:lnSpc>
            </a:pPr>
            <a:r>
              <a:rPr b="0" lang="sk-SK" sz="3200" spc="-1" strike="noStrike">
                <a:solidFill>
                  <a:srgbClr val="000000"/>
                </a:solidFill>
                <a:latin typeface="Aptos Display"/>
              </a:rPr>
              <a:t>Prompty a mapovanie – TOTO ROZDELIT</a:t>
            </a:r>
            <a:br/>
            <a:br/>
            <a:endParaRPr b="0" lang="sk-SK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85" name="TextShape 2"/>
          <p:cNvSpPr txBox="1"/>
          <p:nvPr/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Char char="-"/>
            </a:pPr>
            <a:r>
              <a:rPr b="0" lang="sk-SK" sz="1600" spc="-1" strike="noStrike">
                <a:solidFill>
                  <a:srgbClr val="000000"/>
                </a:solidFill>
                <a:latin typeface="Aptos"/>
              </a:rPr>
              <a:t>Toto neviem ako presne dať to prezentácie</a:t>
            </a:r>
            <a:endParaRPr b="0" lang="sk-SK" sz="1600" spc="-1" strike="noStrike">
              <a:solidFill>
                <a:srgbClr val="000000"/>
              </a:solidFill>
              <a:latin typeface="Aptos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Char char="-"/>
            </a:pPr>
            <a:r>
              <a:rPr b="0" lang="sk-SK" sz="1600" spc="-1" strike="noStrike">
                <a:solidFill>
                  <a:srgbClr val="000000"/>
                </a:solidFill>
                <a:latin typeface="Aptos"/>
              </a:rPr>
              <a:t>Teda su´akoby 3 funkčné úrovne</a:t>
            </a:r>
            <a:endParaRPr b="0" lang="sk-SK" sz="1600" spc="-1" strike="noStrike">
              <a:solidFill>
                <a:srgbClr val="000000"/>
              </a:solidFill>
              <a:latin typeface="Aptos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Char char="-"/>
            </a:pPr>
            <a:r>
              <a:rPr b="0" lang="sk-SK" sz="1600" spc="-1" strike="noStrike">
                <a:solidFill>
                  <a:srgbClr val="000000"/>
                </a:solidFill>
                <a:latin typeface="Aptos"/>
              </a:rPr>
              <a:t>Prvá, pre  deepseek-v4-reasoner</a:t>
            </a:r>
            <a:endParaRPr b="0" lang="sk-SK" sz="1600" spc="-1" strike="noStrike">
              <a:solidFill>
                <a:srgbClr val="000000"/>
              </a:solidFill>
              <a:latin typeface="Aptos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Char char="-"/>
            </a:pPr>
            <a:r>
              <a:rPr b="0" lang="sk-SK" sz="1600" spc="-1" strike="noStrike">
                <a:solidFill>
                  <a:srgbClr val="000000"/>
                </a:solidFill>
                <a:latin typeface="Aptos"/>
              </a:rPr>
              <a:t>To asi iba excel tabulku s výsledkami, a povedať o tom niečo</a:t>
            </a:r>
            <a:endParaRPr b="0" lang="sk-SK" sz="1600" spc="-1" strike="noStrike">
              <a:solidFill>
                <a:srgbClr val="000000"/>
              </a:solidFill>
              <a:latin typeface="Aptos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Char char="-"/>
            </a:pPr>
            <a:r>
              <a:rPr b="0" lang="sk-SK" sz="1600" spc="-1" strike="noStrike">
                <a:solidFill>
                  <a:srgbClr val="000000"/>
                </a:solidFill>
                <a:latin typeface="Aptos"/>
              </a:rPr>
              <a:t>Druhá, pre deepseek – v4 – flash</a:t>
            </a:r>
            <a:endParaRPr b="0" lang="sk-SK" sz="1600" spc="-1" strike="noStrike">
              <a:solidFill>
                <a:srgbClr val="000000"/>
              </a:solidFill>
              <a:latin typeface="Aptos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Char char="-"/>
            </a:pPr>
            <a:r>
              <a:rPr b="0" lang="sk-SK" sz="1600" spc="-1" strike="noStrike">
                <a:solidFill>
                  <a:srgbClr val="000000"/>
                </a:solidFill>
                <a:latin typeface="Aptos"/>
              </a:rPr>
              <a:t>Povedať že v čom iná... že trochu menej kvalitná</a:t>
            </a:r>
            <a:endParaRPr b="0" lang="sk-SK" sz="1600" spc="-1" strike="noStrike">
              <a:solidFill>
                <a:srgbClr val="000000"/>
              </a:solidFill>
              <a:latin typeface="Aptos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Char char="-"/>
            </a:pPr>
            <a:r>
              <a:rPr b="0" lang="sk-SK" sz="1600" spc="-1" strike="noStrike">
                <a:solidFill>
                  <a:srgbClr val="000000"/>
                </a:solidFill>
                <a:latin typeface="Aptos"/>
              </a:rPr>
              <a:t>Potom lokálne... k tomu môžem ukázať aj prompt ako obrázok</a:t>
            </a:r>
            <a:endParaRPr b="0" lang="sk-SK" sz="1600" spc="-1" strike="noStrike">
              <a:solidFill>
                <a:srgbClr val="000000"/>
              </a:solidFill>
              <a:latin typeface="Aptos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Char char="-"/>
            </a:pPr>
            <a:r>
              <a:rPr b="0" lang="sk-SK" sz="1600" spc="-1" strike="noStrike">
                <a:solidFill>
                  <a:srgbClr val="000000"/>
                </a:solidFill>
                <a:latin typeface="Aptos"/>
              </a:rPr>
              <a:t>Ku každému povedať kolko znakov v prompte atď... a to ako sa znižovala kvalita</a:t>
            </a:r>
            <a:endParaRPr b="0" lang="sk-SK" sz="1600" spc="-1" strike="noStrike">
              <a:solidFill>
                <a:srgbClr val="000000"/>
              </a:solidFill>
              <a:latin typeface="Aptos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Char char="-"/>
            </a:pPr>
            <a:r>
              <a:rPr b="0" lang="sk-SK" sz="1600" spc="-1" strike="noStrike">
                <a:solidFill>
                  <a:srgbClr val="000000"/>
                </a:solidFill>
                <a:latin typeface="Aptos"/>
              </a:rPr>
              <a:t>A že pod 7b už nešloto použiť na mapovanie vôbec...</a:t>
            </a:r>
            <a:endParaRPr b="0" lang="sk-SK" sz="1600" spc="-1" strike="noStrike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sk-SK" sz="1600" spc="-1" strike="noStrike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sk-SK" sz="1600" spc="-1" strike="noStrike">
              <a:solidFill>
                <a:srgbClr val="000000"/>
              </a:solidFill>
              <a:latin typeface="Aptos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Char char="-"/>
            </a:pPr>
            <a:r>
              <a:rPr b="0" lang="sk-SK" sz="1600" spc="-1" strike="noStrike">
                <a:solidFill>
                  <a:srgbClr val="000000"/>
                </a:solidFill>
                <a:latin typeface="Aptos"/>
              </a:rPr>
              <a:t>Asi na každú úroven 1 slide s popisom... </a:t>
            </a:r>
            <a:endParaRPr b="0" lang="sk-SK" sz="16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86" name="TextShape 3"/>
          <p:cNvSpPr txBox="1"/>
          <p:nvPr/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</a:pPr>
            <a:endParaRPr b="0" lang="sk-SK" sz="2800" spc="-1" strike="noStrike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p:timing>
    <p:tnLst>
      <p:par>
        <p:cTn id="25" dur="indefinite" restart="never" nodeType="tmRoot">
          <p:childTnLst>
            <p:seq>
              <p:cTn id="2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0" lang="sk-SK" sz="1800" spc="-1" strike="noStrike">
                <a:solidFill>
                  <a:srgbClr val="000000"/>
                </a:solidFill>
                <a:latin typeface="Aptos"/>
              </a:rPr>
              <a:t>1.</a:t>
            </a:r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88" name="TextShape 2"/>
          <p:cNvSpPr txBox="1"/>
          <p:nvPr/>
        </p:nvSpPr>
        <p:spPr>
          <a:xfrm>
            <a:off x="838080" y="1825560"/>
            <a:ext cx="4201920" cy="4350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sk-SK" sz="2800" spc="-1" strike="noStrike">
                <a:solidFill>
                  <a:srgbClr val="000000"/>
                </a:solidFill>
                <a:latin typeface="Aptos"/>
              </a:rPr>
              <a:t>deepseek-v4-reasoner</a:t>
            </a:r>
            <a:endParaRPr b="0" lang="sk-SK" sz="2800" spc="-1" strike="noStrike">
              <a:solidFill>
                <a:srgbClr val="000000"/>
              </a:solidFill>
              <a:latin typeface="Apto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sk-SK" sz="2800" spc="-1" strike="noStrike">
                <a:solidFill>
                  <a:srgbClr val="000000"/>
                </a:solidFill>
                <a:latin typeface="Aptos"/>
              </a:rPr>
              <a:t>Drahý</a:t>
            </a:r>
            <a:endParaRPr b="0" lang="sk-SK" sz="2800" spc="-1" strike="noStrike">
              <a:solidFill>
                <a:srgbClr val="000000"/>
              </a:solidFill>
              <a:latin typeface="Apto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sk-SK" sz="2800" spc="-1" strike="noStrike">
                <a:solidFill>
                  <a:srgbClr val="000000"/>
                </a:solidFill>
                <a:latin typeface="Aptos"/>
              </a:rPr>
              <a:t>Aj reasoning</a:t>
            </a:r>
            <a:endParaRPr b="0" lang="sk-SK" sz="2800" spc="-1" strike="noStrike">
              <a:solidFill>
                <a:srgbClr val="000000"/>
              </a:solidFill>
              <a:latin typeface="Apto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sk-SK" sz="2800" spc="-1" strike="noStrike">
                <a:solidFill>
                  <a:srgbClr val="000000"/>
                </a:solidFill>
                <a:latin typeface="Aptos"/>
              </a:rPr>
              <a:t>18k znakov prompt</a:t>
            </a:r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89" name="TextShape 3"/>
          <p:cNvSpPr txBox="1"/>
          <p:nvPr/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graphicFrame>
        <p:nvGraphicFramePr>
          <p:cNvPr id="290" name="Table 4"/>
          <p:cNvGraphicFramePr/>
          <p:nvPr/>
        </p:nvGraphicFramePr>
        <p:xfrm>
          <a:off x="5112000" y="648000"/>
          <a:ext cx="6407640" cy="5528520"/>
        </p:xfrm>
        <a:graphic>
          <a:graphicData uri="http://schemas.openxmlformats.org/drawingml/2006/table">
            <a:tbl>
              <a:tblPr/>
              <a:tblGrid>
                <a:gridCol w="2340360"/>
                <a:gridCol w="4067640"/>
              </a:tblGrid>
              <a:tr h="1119600">
                <a:tc>
                  <a:txBody>
                    <a:bodyPr lIns="90000" rIns="90000" tIns="46800" bIns="46800"/>
                    <a:p>
                      <a:r>
                        <a:rPr b="0" lang="sk-SK" sz="1800" spc="-1" strike="noStrike">
                          <a:latin typeface="Arial"/>
                        </a:rPr>
                        <a:t>1. Long Method</a:t>
                      </a:r>
                      <a:endParaRPr b="0" lang="sk-SK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sk-SK" sz="1800" spc="-1" strike="noStrike">
                          <a:latin typeface="Arial"/>
                        </a:rPr>
                        <a:t>C901, PLR0911, PLR0912, PLR0914, PLR0915, PLR0916, PLR1702, PLR5501, R0911, R0912, R0914, R0915, SIM102</a:t>
                      </a:r>
                      <a:endParaRPr b="0" lang="sk-SK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350640">
                <a:tc>
                  <a:txBody>
                    <a:bodyPr lIns="90000" rIns="90000" tIns="46800" bIns="46800"/>
                    <a:p>
                      <a:r>
                        <a:rPr b="0" lang="sk-SK" sz="1800" spc="-1" strike="noStrike">
                          <a:latin typeface="Arial"/>
                        </a:rPr>
                        <a:t>2. Large Class</a:t>
                      </a:r>
                      <a:endParaRPr b="0" lang="sk-SK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sk-SK" sz="1800" spc="-1" strike="noStrike">
                          <a:latin typeface="Arial"/>
                        </a:rPr>
                        <a:t>PLR0904, R0902, R0904</a:t>
                      </a:r>
                      <a:endParaRPr b="0" lang="sk-SK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606600">
                <a:tc>
                  <a:txBody>
                    <a:bodyPr lIns="90000" rIns="90000" tIns="46800" bIns="46800"/>
                    <a:p>
                      <a:r>
                        <a:rPr b="0" lang="sk-SK" sz="1800" spc="-1" strike="noStrike">
                          <a:latin typeface="Arial"/>
                        </a:rPr>
                        <a:t>3. Long Parameter List</a:t>
                      </a:r>
                      <a:endParaRPr b="0" lang="sk-SK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sk-SK" sz="1800" spc="-1" strike="noStrike">
                          <a:latin typeface="Arial"/>
                        </a:rPr>
                        <a:t>FBT001, FBT002, PLR0913, PLR0917, R0913, R0917, W0613</a:t>
                      </a:r>
                      <a:endParaRPr b="0" lang="sk-SK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606600">
                <a:tc>
                  <a:txBody>
                    <a:bodyPr lIns="90000" rIns="90000" tIns="46800" bIns="46800"/>
                    <a:p>
                      <a:r>
                        <a:rPr b="0" lang="sk-SK" sz="1800" spc="-1" strike="noStrike">
                          <a:latin typeface="Arial"/>
                        </a:rPr>
                        <a:t>4. Feature Envy</a:t>
                      </a:r>
                      <a:endParaRPr b="0" lang="sk-SK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sk-SK" sz="1800" spc="-1" strike="noStrike">
                          <a:latin typeface="Arial"/>
                        </a:rPr>
                        <a:t>C0206, E1141, PLC0206, PLE1141, PLR6301, R1733, R1736</a:t>
                      </a:r>
                      <a:endParaRPr b="0" lang="sk-SK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350640">
                <a:tc>
                  <a:txBody>
                    <a:bodyPr lIns="90000" rIns="90000" tIns="46800" bIns="46800"/>
                    <a:p>
                      <a:r>
                        <a:rPr b="0" lang="sk-SK" sz="1800" spc="-1" strike="noStrike">
                          <a:latin typeface="Arial"/>
                        </a:rPr>
                        <a:t>5. Data Clumps</a:t>
                      </a:r>
                      <a:endParaRPr b="0" lang="sk-SK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sk-SK" sz="1800" spc="-1" strike="noStrike">
                          <a:latin typeface="Arial"/>
                        </a:rPr>
                        <a:t>UP013, UP014</a:t>
                      </a:r>
                      <a:endParaRPr b="0" lang="sk-SK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1631880">
                <a:tc>
                  <a:txBody>
                    <a:bodyPr lIns="90000" rIns="90000" tIns="46800" bIns="46800"/>
                    <a:p>
                      <a:r>
                        <a:rPr b="0" lang="sk-SK" sz="1800" spc="-1" strike="noStrike">
                          <a:latin typeface="Arial"/>
                        </a:rPr>
                        <a:t>6. Primitive Obsession</a:t>
                      </a:r>
                      <a:endParaRPr b="0" lang="sk-SK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sk-SK" sz="1800" spc="-1" strike="noStrike">
                          <a:latin typeface="Arial"/>
                        </a:rPr>
                        <a:t>DJ001, DTZ001, DTZ002, DTZ003, DTZ004, DTZ005, DTZ006, DTZ007, DTZ011, DTZ012, DTZ901, FURB154, FURB156, PLR2004, PLR6201, PLW0602, PLW0603, RUF032, W0603</a:t>
                      </a:r>
                      <a:endParaRPr b="0" lang="sk-SK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862560">
                <a:tc>
                  <a:txBody>
                    <a:bodyPr lIns="90000" rIns="90000" tIns="46800" bIns="46800"/>
                    <a:p>
                      <a:r>
                        <a:rPr b="0" lang="sk-SK" sz="1800" spc="-1" strike="noStrike">
                          <a:latin typeface="Arial"/>
                        </a:rPr>
                        <a:t>7. Switch Statements</a:t>
                      </a:r>
                      <a:endParaRPr b="0" lang="sk-SK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sk-SK" sz="1800" spc="-1" strike="noStrike">
                          <a:latin typeface="Arial"/>
                        </a:rPr>
                        <a:t>C901, PLR0912, PLR0916, PLR1730, R0912, R0916, R1714, R1715, R1730, R1731, SIM116, SIM401</a:t>
                      </a:r>
                      <a:endParaRPr b="0" lang="sk-SK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</p:spTree>
  </p:cSld>
  <p:timing>
    <p:tnLst>
      <p:par>
        <p:cTn id="27" dur="indefinite" restart="never" nodeType="tmRoot">
          <p:childTnLst>
            <p:seq>
              <p:cTn id="2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0" lang="sk-SK" sz="1800" spc="-1" strike="noStrike">
                <a:solidFill>
                  <a:srgbClr val="000000"/>
                </a:solidFill>
                <a:latin typeface="Aptos"/>
              </a:rPr>
              <a:t>2.</a:t>
            </a:r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92" name="TextShape 2"/>
          <p:cNvSpPr txBox="1"/>
          <p:nvPr/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sk-SK" sz="2800" spc="-1" strike="noStrike">
                <a:solidFill>
                  <a:srgbClr val="000000"/>
                </a:solidFill>
                <a:latin typeface="Aptos"/>
              </a:rPr>
              <a:t>deepseek-v4-flash</a:t>
            </a:r>
            <a:endParaRPr b="0" lang="sk-SK" sz="2800" spc="-1" strike="noStrike">
              <a:solidFill>
                <a:srgbClr val="000000"/>
              </a:solidFill>
              <a:latin typeface="Apto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sk-SK" sz="2800" spc="-1" strike="noStrike">
                <a:solidFill>
                  <a:srgbClr val="000000"/>
                </a:solidFill>
                <a:latin typeface="Aptos"/>
              </a:rPr>
              <a:t>Omnoho lacnejší</a:t>
            </a:r>
            <a:endParaRPr b="0" lang="sk-SK" sz="2800" spc="-1" strike="noStrike">
              <a:solidFill>
                <a:srgbClr val="000000"/>
              </a:solidFill>
              <a:latin typeface="Apto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sk-SK" sz="2800" spc="-1" strike="noStrike">
                <a:solidFill>
                  <a:srgbClr val="000000"/>
                </a:solidFill>
                <a:latin typeface="Aptos"/>
              </a:rPr>
              <a:t>Pozmenený a skrátený prompt</a:t>
            </a:r>
            <a:endParaRPr b="0" lang="sk-SK" sz="2800" spc="-1" strike="noStrike">
              <a:solidFill>
                <a:srgbClr val="000000"/>
              </a:solidFill>
              <a:latin typeface="Apto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sk-SK" sz="2800" spc="-1" strike="noStrike">
                <a:solidFill>
                  <a:srgbClr val="000000"/>
                </a:solidFill>
                <a:latin typeface="Aptos"/>
              </a:rPr>
              <a:t>Nie je Reasoning</a:t>
            </a:r>
            <a:endParaRPr b="0" lang="sk-SK" sz="2800" spc="-1" strike="noStrike">
              <a:solidFill>
                <a:srgbClr val="000000"/>
              </a:solidFill>
              <a:latin typeface="Apto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sk-SK" sz="2800" spc="-1" strike="noStrike">
                <a:solidFill>
                  <a:srgbClr val="000000"/>
                </a:solidFill>
                <a:latin typeface="Aptos"/>
              </a:rPr>
              <a:t>Viac halucinácií</a:t>
            </a:r>
            <a:endParaRPr b="0" lang="sk-SK" sz="2800" spc="-1" strike="noStrike">
              <a:solidFill>
                <a:srgbClr val="000000"/>
              </a:solidFill>
              <a:latin typeface="Apto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sk-SK" sz="2800" spc="-1" strike="noStrike">
                <a:solidFill>
                  <a:srgbClr val="000000"/>
                </a:solidFill>
                <a:latin typeface="Aptos"/>
              </a:rPr>
              <a:t>6k znakov prompt</a:t>
            </a:r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93" name="TextShape 3"/>
          <p:cNvSpPr txBox="1"/>
          <p:nvPr/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graphicFrame>
        <p:nvGraphicFramePr>
          <p:cNvPr id="294" name="Table 4"/>
          <p:cNvGraphicFramePr/>
          <p:nvPr/>
        </p:nvGraphicFramePr>
        <p:xfrm>
          <a:off x="5400000" y="1635480"/>
          <a:ext cx="6479640" cy="4402080"/>
        </p:xfrm>
        <a:graphic>
          <a:graphicData uri="http://schemas.openxmlformats.org/drawingml/2006/table">
            <a:tbl>
              <a:tblPr/>
              <a:tblGrid>
                <a:gridCol w="1224360"/>
                <a:gridCol w="1603800"/>
                <a:gridCol w="1824840"/>
                <a:gridCol w="1826640"/>
              </a:tblGrid>
              <a:tr h="343440">
                <a:tc>
                  <a:txBody>
                    <a:bodyPr lIns="90000" rIns="90000" tIns="46800" bIns="46800"/>
                    <a:p>
                      <a:pPr algn="ctr"/>
                      <a:r>
                        <a:rPr b="1" lang="sk-SK" sz="1800" spc="-1" strike="noStrike">
                          <a:latin typeface="Arial"/>
                        </a:rPr>
                        <a:t>id</a:t>
                      </a:r>
                      <a:endParaRPr b="1" lang="sk-SK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/>
                    <a:p>
                      <a:pPr algn="ctr"/>
                      <a:r>
                        <a:rPr b="1" lang="sk-SK" sz="1800" spc="-1" strike="noStrike">
                          <a:latin typeface="Arial"/>
                        </a:rPr>
                        <a:t>primary_smell</a:t>
                      </a:r>
                      <a:endParaRPr b="1" lang="sk-SK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/>
                    <a:p>
                      <a:pPr algn="ctr"/>
                      <a:r>
                        <a:rPr b="1" lang="sk-SK" sz="1800" spc="-1" strike="noStrike">
                          <a:latin typeface="Arial"/>
                        </a:rPr>
                        <a:t>high_smells</a:t>
                      </a:r>
                      <a:endParaRPr b="1" lang="sk-SK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/>
                    <a:p>
                      <a:pPr algn="ctr"/>
                      <a:r>
                        <a:rPr b="1" lang="sk-SK" sz="1800" spc="-1" strike="noStrike">
                          <a:latin typeface="Arial"/>
                        </a:rPr>
                        <a:t>medium_smells</a:t>
                      </a:r>
                      <a:endParaRPr b="1" lang="sk-SK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0">
                <a:tc>
                  <a:txBody>
                    <a:bodyPr lIns="90000" rIns="90000" tIns="46800" bIns="46800"/>
                    <a:p>
                      <a:r>
                        <a:rPr b="0" lang="sk-SK" sz="1800" spc="-1" strike="noStrike">
                          <a:latin typeface="Arial"/>
                        </a:rPr>
                        <a:t>B024</a:t>
                      </a:r>
                      <a:endParaRPr b="0" lang="sk-SK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sk-SK" sz="1800" spc="-1" strike="noStrike">
                          <a:latin typeface="Arial"/>
                        </a:rPr>
                        <a:t>Speculative Generality</a:t>
                      </a:r>
                      <a:endParaRPr b="0" lang="sk-SK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sk-SK" sz="1800" spc="-1" strike="noStrike">
                          <a:latin typeface="Arial"/>
                        </a:rPr>
                        <a:t>Speculative Generality</a:t>
                      </a:r>
                      <a:endParaRPr b="0" lang="sk-SK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sk-SK" sz="1800" spc="-1" strike="noStrike">
                          <a:latin typeface="Arial"/>
                        </a:rPr>
                        <a:t>Lazy Class</a:t>
                      </a:r>
                      <a:endParaRPr b="0" lang="sk-SK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0">
                <a:tc>
                  <a:txBody>
                    <a:bodyPr lIns="90000" rIns="90000" tIns="46800" bIns="46800"/>
                    <a:p>
                      <a:r>
                        <a:rPr b="0" lang="sk-SK" sz="1800" spc="-1" strike="noStrike">
                          <a:latin typeface="Arial"/>
                        </a:rPr>
                        <a:t>RUF063</a:t>
                      </a:r>
                      <a:endParaRPr b="0" lang="sk-SK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sk-SK" sz="1800" spc="-1" strike="noStrike">
                          <a:latin typeface="Arial"/>
                        </a:rPr>
                        <a:t>Primitive Obsession</a:t>
                      </a:r>
                      <a:endParaRPr b="0" lang="sk-SK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sk-SK" sz="1800" spc="-1" strike="noStrike">
                          <a:latin typeface="Arial"/>
                        </a:rPr>
                        <a:t>Primitive Obsession</a:t>
                      </a:r>
                      <a:endParaRPr b="0" lang="sk-SK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0">
                <a:tc>
                  <a:txBody>
                    <a:bodyPr lIns="90000" rIns="90000" tIns="46800" bIns="46800"/>
                    <a:p>
                      <a:r>
                        <a:rPr b="0" lang="sk-SK" sz="1800" spc="-1" strike="noStrike">
                          <a:latin typeface="Arial"/>
                        </a:rPr>
                        <a:t>AIR201</a:t>
                      </a:r>
                      <a:endParaRPr b="0" lang="sk-SK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sk-SK" sz="1800" spc="-1" strike="noStrike">
                          <a:latin typeface="Arial"/>
                        </a:rPr>
                        <a:t>Primitive Obsession</a:t>
                      </a:r>
                      <a:endParaRPr b="0" lang="sk-SK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sk-SK" sz="1800" spc="-1" strike="noStrike">
                          <a:latin typeface="Arial"/>
                        </a:rPr>
                        <a:t>Primitive Obsession</a:t>
                      </a:r>
                      <a:endParaRPr b="0" lang="sk-SK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0">
                <a:tc>
                  <a:txBody>
                    <a:bodyPr lIns="90000" rIns="90000" tIns="46800" bIns="46800"/>
                    <a:p>
                      <a:r>
                        <a:rPr b="0" lang="sk-SK" sz="1800" spc="-1" strike="noStrike">
                          <a:latin typeface="Arial"/>
                        </a:rPr>
                        <a:t>any-type (ANN401)</a:t>
                      </a:r>
                      <a:endParaRPr b="0" lang="sk-SK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sk-SK" sz="1800" spc="-1" strike="noStrike">
                          <a:latin typeface="Arial"/>
                        </a:rPr>
                        <a:t>Primitive Obsession</a:t>
                      </a:r>
                      <a:endParaRPr b="0" lang="sk-SK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sk-SK" sz="1800" spc="-1" strike="noStrike">
                          <a:latin typeface="Arial"/>
                        </a:rPr>
                        <a:t>Primitive Obsession</a:t>
                      </a:r>
                      <a:endParaRPr b="0" lang="sk-SK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sk-SK" sz="1800" spc="-1" strike="noStrike">
                          <a:latin typeface="Arial"/>
                        </a:rPr>
                        <a:t>Speculative Generality</a:t>
                      </a:r>
                      <a:endParaRPr b="0" lang="sk-SK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0">
                <a:tc>
                  <a:txBody>
                    <a:bodyPr lIns="90000" rIns="90000" tIns="46800" bIns="46800"/>
                    <a:p>
                      <a:r>
                        <a:rPr b="0" lang="sk-SK" sz="1800" spc="-1" strike="noStrike">
                          <a:latin typeface="Arial"/>
                        </a:rPr>
                        <a:t>PLW0129</a:t>
                      </a:r>
                      <a:endParaRPr b="0" lang="sk-SK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sk-SK" sz="1800" spc="-1" strike="noStrike">
                          <a:latin typeface="Arial"/>
                        </a:rPr>
                        <a:t>Dead Code</a:t>
                      </a:r>
                      <a:endParaRPr b="0" lang="sk-SK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sk-SK" sz="1800" spc="-1" strike="noStrike">
                          <a:latin typeface="Arial"/>
                        </a:rPr>
                        <a:t>Dead Code</a:t>
                      </a:r>
                      <a:endParaRPr b="0" lang="sk-SK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</p:spTree>
  </p:cSld>
  <p:timing>
    <p:tnLst>
      <p:par>
        <p:cTn id="29" dur="indefinite" restart="never" nodeType="tmRoot">
          <p:childTnLst>
            <p:seq>
              <p:cTn id="3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0" lang="sk-SK" sz="1800" spc="-1" strike="noStrike">
                <a:solidFill>
                  <a:srgbClr val="000000"/>
                </a:solidFill>
                <a:latin typeface="Aptos"/>
              </a:rPr>
              <a:t>3. Lokálne</a:t>
            </a:r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96" name="TextShape 2"/>
          <p:cNvSpPr txBox="1"/>
          <p:nvPr/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sk-SK" sz="2800" spc="-1" strike="noStrike">
                <a:solidFill>
                  <a:srgbClr val="000000"/>
                </a:solidFill>
                <a:latin typeface="Aptos"/>
              </a:rPr>
              <a:t>Model 7b parametrov nepoužitelný</a:t>
            </a:r>
            <a:endParaRPr b="0" lang="sk-SK" sz="2800" spc="-1" strike="noStrike">
              <a:solidFill>
                <a:srgbClr val="000000"/>
              </a:solidFill>
              <a:latin typeface="Apto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sk-SK" sz="2800" spc="-1" strike="noStrike">
                <a:solidFill>
                  <a:srgbClr val="000000"/>
                </a:solidFill>
                <a:latin typeface="Aptos"/>
              </a:rPr>
              <a:t>7b model (qwen2.5:7b)</a:t>
            </a:r>
            <a:endParaRPr b="0" lang="sk-SK" sz="2800" spc="-1" strike="noStrike">
              <a:solidFill>
                <a:srgbClr val="000000"/>
              </a:solidFill>
              <a:latin typeface="Apto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sk-SK" sz="2800" spc="-1" strike="noStrike">
                <a:solidFill>
                  <a:srgbClr val="000000"/>
                </a:solidFill>
                <a:latin typeface="Aptos"/>
              </a:rPr>
              <a:t>Veľmi veľa rules vynechaných</a:t>
            </a:r>
            <a:endParaRPr b="0" lang="sk-SK" sz="2800" spc="-1" strike="noStrike">
              <a:solidFill>
                <a:srgbClr val="000000"/>
              </a:solidFill>
              <a:latin typeface="Apto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sk-SK" sz="2800" spc="-1" strike="noStrike">
                <a:solidFill>
                  <a:srgbClr val="000000"/>
                </a:solidFill>
                <a:latin typeface="Aptos"/>
              </a:rPr>
              <a:t>tie mapované podobne</a:t>
            </a:r>
            <a:endParaRPr b="0" lang="sk-SK" sz="2800" spc="-1" strike="noStrike">
              <a:solidFill>
                <a:srgbClr val="000000"/>
              </a:solidFill>
              <a:latin typeface="Apto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sk-SK" sz="2800" spc="-1" strike="noStrike">
                <a:solidFill>
                  <a:srgbClr val="000000"/>
                </a:solidFill>
                <a:latin typeface="Aptos"/>
              </a:rPr>
              <a:t>Odlišnosti hlavne keď niektoré slová v popise</a:t>
            </a:r>
            <a:endParaRPr b="0" lang="sk-SK" sz="2800" spc="-1" strike="noStrike">
              <a:solidFill>
                <a:srgbClr val="000000"/>
              </a:solidFill>
              <a:latin typeface="Apto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sk-SK" sz="2800" spc="-1" strike="noStrike">
                <a:solidFill>
                  <a:srgbClr val="000000"/>
                </a:solidFill>
                <a:latin typeface="Aptos"/>
              </a:rPr>
              <a:t>(napr. code -&gt; dead code)</a:t>
            </a:r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97" name="TextShape 3"/>
          <p:cNvSpPr txBox="1"/>
          <p:nvPr/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298" name="" descr=""/>
          <p:cNvPicPr/>
          <p:nvPr/>
        </p:nvPicPr>
        <p:blipFill>
          <a:blip r:embed="rId1"/>
          <a:stretch/>
        </p:blipFill>
        <p:spPr>
          <a:xfrm>
            <a:off x="6048000" y="1440000"/>
            <a:ext cx="6372000" cy="35863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1" dur="indefinite" restart="never" nodeType="tmRoot">
          <p:childTnLst>
            <p:seq>
              <p:cTn id="3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TextShape 1"/>
          <p:cNvSpPr txBox="1"/>
          <p:nvPr/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90000"/>
              </a:lnSpc>
            </a:pPr>
            <a:r>
              <a:rPr b="0" lang="sk-SK" sz="3200" spc="-1" strike="noStrike">
                <a:solidFill>
                  <a:srgbClr val="000000"/>
                </a:solidFill>
                <a:latin typeface="Aptos Display"/>
              </a:rPr>
              <a:t>Script na ovládanie mapovania</a:t>
            </a:r>
            <a:endParaRPr b="0" lang="sk-SK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00" name="TextShape 2"/>
          <p:cNvSpPr txBox="1"/>
          <p:nvPr/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>
            <a:noFill/>
          </a:ln>
        </p:spPr>
        <p:txBody>
          <a:bodyPr/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01" name="TextShape 3"/>
          <p:cNvSpPr txBox="1"/>
          <p:nvPr/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Char char="-"/>
            </a:pPr>
            <a:endParaRPr b="0" lang="sk-SK" sz="2800" spc="-1" strike="noStrike">
              <a:solidFill>
                <a:srgbClr val="000000"/>
              </a:solidFill>
              <a:latin typeface="Aptos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Char char="-"/>
            </a:pPr>
            <a:r>
              <a:rPr b="0" lang="sk-SK" sz="2200" spc="-1" strike="noStrike">
                <a:solidFill>
                  <a:srgbClr val="000000"/>
                </a:solidFill>
                <a:latin typeface="Aptos"/>
              </a:rPr>
              <a:t>Implementácia volania na API</a:t>
            </a:r>
            <a:endParaRPr b="0" lang="sk-SK" sz="2200" spc="-1" strike="noStrike">
              <a:solidFill>
                <a:srgbClr val="000000"/>
              </a:solidFill>
              <a:latin typeface="Aptos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Char char="-"/>
            </a:pPr>
            <a:r>
              <a:rPr b="0" lang="sk-SK" sz="2200" spc="-1" strike="noStrike">
                <a:solidFill>
                  <a:srgbClr val="000000"/>
                </a:solidFill>
                <a:latin typeface="Aptos"/>
              </a:rPr>
              <a:t>Čítanie a zapisovanie</a:t>
            </a:r>
            <a:endParaRPr b="0" lang="sk-SK" sz="2200" spc="-1" strike="noStrike">
              <a:solidFill>
                <a:srgbClr val="000000"/>
              </a:solidFill>
              <a:latin typeface="Aptos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Char char="-"/>
            </a:pPr>
            <a:r>
              <a:rPr b="0" lang="sk-SK" sz="2200" spc="-1" strike="noStrike">
                <a:solidFill>
                  <a:srgbClr val="000000"/>
                </a:solidFill>
                <a:latin typeface="Aptos"/>
              </a:rPr>
              <a:t>Optimalizovaná pre túto úlohu </a:t>
            </a:r>
            <a:endParaRPr b="0" lang="sk-SK" sz="2200" spc="-1" strike="noStrike">
              <a:solidFill>
                <a:srgbClr val="000000"/>
              </a:solidFill>
              <a:latin typeface="Aptos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Char char="-"/>
            </a:pPr>
            <a:r>
              <a:rPr b="0" lang="sk-SK" sz="2200" spc="-1" strike="noStrike">
                <a:solidFill>
                  <a:srgbClr val="000000"/>
                </a:solidFill>
                <a:latin typeface="Aptos"/>
              </a:rPr>
              <a:t>V podstate batch processing.....</a:t>
            </a:r>
            <a:endParaRPr b="0" lang="sk-SK" sz="2200" spc="-1" strike="noStrike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sk-SK" sz="2200" spc="-1" strike="noStrike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sk-SK" sz="2200" spc="-1" strike="noStrike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302" name="" descr=""/>
          <p:cNvPicPr/>
          <p:nvPr/>
        </p:nvPicPr>
        <p:blipFill>
          <a:blip r:embed="rId1"/>
          <a:stretch/>
        </p:blipFill>
        <p:spPr>
          <a:xfrm>
            <a:off x="5779440" y="1224000"/>
            <a:ext cx="4876560" cy="48765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3" dur="indefinite" restart="never" nodeType="tmRoot">
          <p:childTnLst>
            <p:seq>
              <p:cTn id="3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TextShape 1"/>
          <p:cNvSpPr txBox="1"/>
          <p:nvPr/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90000"/>
              </a:lnSpc>
            </a:pPr>
            <a:r>
              <a:rPr b="0" lang="sk-SK" sz="3200" spc="-1" strike="noStrike">
                <a:solidFill>
                  <a:srgbClr val="000000"/>
                </a:solidFill>
                <a:latin typeface="Aptos Display"/>
              </a:rPr>
              <a:t>Code smell info to code smell mapping description</a:t>
            </a:r>
            <a:endParaRPr b="0" lang="sk-SK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04" name="TextShape 2"/>
          <p:cNvSpPr txBox="1"/>
          <p:nvPr/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05" name="TextShape 3"/>
          <p:cNvSpPr txBox="1"/>
          <p:nvPr/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Char char="-"/>
            </a:pPr>
            <a:endParaRPr b="0" lang="sk-SK" sz="2800" spc="-1" strike="noStrike">
              <a:solidFill>
                <a:srgbClr val="000000"/>
              </a:solidFill>
              <a:latin typeface="Aptos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Char char="-"/>
            </a:pPr>
            <a:r>
              <a:rPr b="0" lang="sk-SK" sz="1600" spc="-1" strike="noStrike">
                <a:solidFill>
                  <a:srgbClr val="000000"/>
                </a:solidFill>
                <a:latin typeface="Aptos"/>
              </a:rPr>
              <a:t>Pôvodný prompt je limitovaný na CS z REFACTORING.GURU</a:t>
            </a:r>
            <a:endParaRPr b="0" lang="sk-SK" sz="1600" spc="-1" strike="noStrike">
              <a:solidFill>
                <a:srgbClr val="000000"/>
              </a:solidFill>
              <a:latin typeface="Aptos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Char char="-"/>
            </a:pPr>
            <a:r>
              <a:rPr b="0" lang="sk-SK" sz="1600" spc="-1" strike="noStrike">
                <a:solidFill>
                  <a:srgbClr val="000000"/>
                </a:solidFill>
                <a:latin typeface="Aptos"/>
              </a:rPr>
              <a:t>Avšak bolo by jednoduché zameniť CS v ňom za iné</a:t>
            </a:r>
            <a:endParaRPr b="0" lang="sk-SK" sz="1600" spc="-1" strike="noStrike">
              <a:solidFill>
                <a:srgbClr val="000000"/>
              </a:solidFill>
              <a:latin typeface="Aptos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Char char="-"/>
            </a:pPr>
            <a:r>
              <a:rPr b="0" lang="sk-SK" sz="1600" spc="-1" strike="noStrike">
                <a:solidFill>
                  <a:srgbClr val="000000"/>
                </a:solidFill>
                <a:latin typeface="Aptos"/>
              </a:rPr>
              <a:t>Tento prompt vie z dlhšieho popisu CS vytvoriť popis vložitelný do mapovacieho promptu</a:t>
            </a:r>
            <a:endParaRPr b="0" lang="sk-SK" sz="1600" spc="-1" strike="noStrike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306" name="" descr=""/>
          <p:cNvPicPr/>
          <p:nvPr/>
        </p:nvPicPr>
        <p:blipFill>
          <a:blip r:embed="rId1"/>
          <a:stretch/>
        </p:blipFill>
        <p:spPr>
          <a:xfrm>
            <a:off x="5183280" y="1656000"/>
            <a:ext cx="9067320" cy="34095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5" dur="indefinite" restart="never" nodeType="tmRoot">
          <p:childTnLst>
            <p:seq>
              <p:cTn id="3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" descr=""/>
          <p:cNvPicPr/>
          <p:nvPr/>
        </p:nvPicPr>
        <p:blipFill>
          <a:blip r:embed="rId1"/>
          <a:stretch/>
        </p:blipFill>
        <p:spPr>
          <a:xfrm>
            <a:off x="3924000" y="683280"/>
            <a:ext cx="4381200" cy="55242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7" dur="indefinite" restart="never" nodeType="tmRoot">
          <p:childTnLst>
            <p:seq>
              <p:cTn id="3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TextShape 1"/>
          <p:cNvSpPr txBox="1"/>
          <p:nvPr/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0" lang="sk-SK" sz="1800" spc="-1" strike="noStrike">
                <a:solidFill>
                  <a:srgbClr val="000000"/>
                </a:solidFill>
                <a:latin typeface="Aptos"/>
              </a:rPr>
              <a:t>Builder pattern (mozno lepsi obrazok)</a:t>
            </a:r>
            <a:br/>
            <a:r>
              <a:rPr b="0" lang="sk-SK" sz="1800" spc="-1" strike="noStrike">
                <a:solidFill>
                  <a:srgbClr val="000000"/>
                </a:solidFill>
                <a:latin typeface="Aptos"/>
              </a:rPr>
              <a:t>preco builder</a:t>
            </a:r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09" name="TextShape 2"/>
          <p:cNvSpPr txBox="1"/>
          <p:nvPr/>
        </p:nvSpPr>
        <p:spPr>
          <a:xfrm>
            <a:off x="5183280" y="987480"/>
            <a:ext cx="3011760" cy="4873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sk-SK" sz="2800" spc="-1" strike="noStrike">
                <a:solidFill>
                  <a:srgbClr val="000000"/>
                </a:solidFill>
                <a:latin typeface="Aptos"/>
              </a:rPr>
              <a:t>Rovnaky proces mapovania</a:t>
            </a:r>
            <a:endParaRPr b="0" lang="sk-SK" sz="2800" spc="-1" strike="noStrike">
              <a:solidFill>
                <a:srgbClr val="000000"/>
              </a:solidFill>
              <a:latin typeface="Apto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sk-SK" sz="2800" spc="-1" strike="noStrike">
                <a:solidFill>
                  <a:srgbClr val="000000"/>
                </a:solidFill>
                <a:latin typeface="Aptos"/>
              </a:rPr>
              <a:t>Zamenitelne podcasti</a:t>
            </a:r>
            <a:endParaRPr b="0" lang="sk-SK" sz="2800" spc="-1" strike="noStrike">
              <a:solidFill>
                <a:srgbClr val="000000"/>
              </a:solidFill>
              <a:latin typeface="Apto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sk-SK" sz="2800" spc="-1" strike="noStrike">
                <a:solidFill>
                  <a:srgbClr val="000000"/>
                </a:solidFill>
                <a:latin typeface="Aptos"/>
              </a:rPr>
              <a:t>(teda smell description je komponent ktory sa da jednoducho vymenit)</a:t>
            </a:r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10" name="TextShape 3"/>
          <p:cNvSpPr txBox="1"/>
          <p:nvPr/>
        </p:nvSpPr>
        <p:spPr>
          <a:xfrm>
            <a:off x="8345880" y="987480"/>
            <a:ext cx="3011760" cy="4873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sk-SK" sz="2800" spc="-1" strike="noStrike">
                <a:solidFill>
                  <a:srgbClr val="000000"/>
                </a:solidFill>
                <a:latin typeface="Aptos"/>
              </a:rPr>
              <a:t>Nekonecno moznosti ake smells dat dovnutra...</a:t>
            </a:r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p:timing>
    <p:tnLst>
      <p:par>
        <p:cTn id="39" dur="indefinite" restart="never" nodeType="tmRoot">
          <p:childTnLst>
            <p:seq>
              <p:cTn id="4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12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r>
              <a:rPr b="0" lang="sk-SK" sz="3200" spc="-1" strike="noStrike">
                <a:latin typeface="Arial"/>
              </a:rPr>
              <a:t>Dalsiie mozne patterny:</a:t>
            </a:r>
            <a:endParaRPr b="0" lang="sk-SK" sz="3200" spc="-1" strike="noStrike">
              <a:latin typeface="Arial"/>
            </a:endParaRPr>
          </a:p>
          <a:p>
            <a:r>
              <a:rPr b="0" lang="sk-SK" sz="3200" spc="-1" strike="noStrike">
                <a:latin typeface="Arial"/>
              </a:rPr>
              <a:t>-plugin architecture namiesto builder (aleto sme nebrali)</a:t>
            </a:r>
            <a:endParaRPr b="0" lang="sk-SK" sz="3200" spc="-1" strike="noStrike">
              <a:latin typeface="Arial"/>
            </a:endParaRPr>
          </a:p>
          <a:p>
            <a:r>
              <a:rPr b="0" lang="sk-SK" sz="3200" spc="-1" strike="noStrike">
                <a:latin typeface="Arial"/>
              </a:rPr>
              <a:t>- wrapper pre ten API call script</a:t>
            </a:r>
            <a:endParaRPr b="0" lang="sk-SK" sz="3200" spc="-1" strike="noStrike">
              <a:latin typeface="Arial"/>
            </a:endParaRPr>
          </a:p>
          <a:p>
            <a:r>
              <a:rPr b="0" lang="sk-SK" sz="3200" spc="-1" strike="noStrike">
                <a:latin typeface="Arial"/>
              </a:rPr>
              <a:t>- proxy pre to odfiltrovanie rules dopredu (teda ze nepouzijeme LLM ked uz proxy vie povedat ze to smell byt nemoze)</a:t>
            </a:r>
            <a:endParaRPr b="0" lang="sk-SK" sz="3200" spc="-1" strike="noStrike">
              <a:latin typeface="Arial"/>
            </a:endParaRPr>
          </a:p>
        </p:txBody>
      </p:sp>
    </p:spTree>
  </p:cSld>
  <p:timing>
    <p:tnLst>
      <p:par>
        <p:cTn id="41" dur="indefinite" restart="never" nodeType="tmRoot">
          <p:childTnLst>
            <p:seq>
              <p:cTn id="4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endParaRPr b="0" lang="sk-SK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14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sk-SK" sz="2800" spc="-1" strike="noStrike">
                <a:solidFill>
                  <a:srgbClr val="000000"/>
                </a:solidFill>
                <a:latin typeface="Aptos"/>
              </a:rPr>
              <a:t>Ten sekvencny diagram no…akoze technicky to nic nevrati ale mozno</a:t>
            </a:r>
            <a:endParaRPr b="0" lang="sk-SK" sz="2800" spc="-1" strike="noStrike">
              <a:solidFill>
                <a:srgbClr val="000000"/>
              </a:solidFill>
              <a:latin typeface="Apto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sk-SK" sz="2800" spc="-1" strike="noStrike">
                <a:solidFill>
                  <a:srgbClr val="000000"/>
                </a:solidFill>
                <a:latin typeface="Aptos"/>
              </a:rPr>
              <a:t>1) input rule description 2) predfiltrovcanie 3)api call  4)mapovanie  … a naspat</a:t>
            </a:r>
            <a:endParaRPr b="0" lang="sk-SK" sz="2800" spc="-1" strike="noStrike">
              <a:solidFill>
                <a:srgbClr val="000000"/>
              </a:solidFill>
              <a:latin typeface="Apto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sk-SK" sz="2800" spc="-1" strike="noStrike">
                <a:solidFill>
                  <a:srgbClr val="000000"/>
                </a:solidFill>
                <a:latin typeface="Aptos"/>
              </a:rPr>
              <a:t>Porpipade ak odfiltrovanie tak 1-&gt;2-&gt; naspat</a:t>
            </a:r>
            <a:endParaRPr b="0" lang="sk-SK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p:timing>
    <p:tnLst>
      <p:par>
        <p:cTn id="43" dur="indefinite" restart="never" nodeType="tmRoot">
          <p:childTnLst>
            <p:seq>
              <p:cTn id="4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Application>LibreOffice/6.0.3.2$Windows_X86_64 LibreOffice_project/8f48d515416608e3a835360314dac7e47fd0b821</Applicat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2026-05-25T15:58:33Z</dcterms:created>
  <dc:creator/>
  <dc:description/>
  <dc:language>sk-SK</dc:language>
  <cp:lastModifiedBy/>
  <dcterms:modified xsi:type="dcterms:W3CDTF">2026-05-28T16:49:02Z</dcterms:modified>
  <cp:revision>311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Širokouhlá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15</vt:i4>
  </property>
</Properties>
</file>